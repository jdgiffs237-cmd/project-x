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iyjSJ03aKx4HUNH9H/LVoCww0Q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h2e1ae9e3d829f7f1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h2e1ae9e3d829f7f1_2_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h2e1ae9e3d829f7f1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h2e1ae9e3d829f7f1_2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h2e1ae9e3d829f7f1_2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h2e1ae9e3d829f7f1_2_1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h2e1ae9e3d829f7f1_2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h2e1ae9e3d829f7f1_2_1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h2e1ae9e3d829f7f1_2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h2e1ae9e3d829f7f1_2_1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h2e1ae9e3d829f7f1_2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h2e1ae9e3d829f7f1_2_1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h2e1ae9e3d829f7f1_2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h2e1ae9e3d829f7f1_2_1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h2e1ae9e3d829f7f1_2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h2e1ae9e3d829f7f1_2_1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h2e1ae9e3d829f7f1_2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h2e1ae9e3d829f7f1_2_2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h2e1ae9e3d829f7f1_2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h2e1ae9e3d829f7f1_2_2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h2e1ae9e3d829f7f1_2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h2e1ae9e3d829f7f1_2_2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h2e1ae9e3d829f7f1_2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h2e1ae9e3d829f7f1_2_2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h2e1ae9e3d829f7f1_2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h2e1ae9e3d829f7f1_2_2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2e1ae9e3d829f7f1_2_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h2e1ae9e3d829f7f1_2_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h2e1ae9e3d829f7f1_2_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2e1ae9e3d829f7f1_2_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h2e1ae9e3d829f7f1_2_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h2e1ae9e3d829f7f1_2_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h2e1ae9e3d829f7f1_2_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h2e1ae9e3d829f7f1_2_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2e1ae9e3d829f7f1_2_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h2e1ae9e3d829f7f1_2_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h2e1ae9e3d829f7f1_2_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h2e1ae9e3d829f7f1_2_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h2e1ae9e3d829f7f1_2_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2e1ae9e3d829f7f1_2_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h2e1ae9e3d829f7f1_2_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h2e1ae9e3d829f7f1_2_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h2e1ae9e3d829f7f1_2_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h2e1ae9e3d829f7f1_2_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2e1ae9e3d829f7f1_2_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h2e1ae9e3d829f7f1_2_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h2e1ae9e3d829f7f1_2_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h2e1ae9e3d829f7f1_2_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h2e1ae9e3d829f7f1_2_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h2e1ae9e3d829f7f1_2_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2e1ae9e3d829f7f1_2_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h2e1ae9e3d829f7f1_2_3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h2e1ae9e3d829f7f1_2_3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h2e1ae9e3d829f7f1_2_3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h2e1ae9e3d829f7f1_2_3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h2e1ae9e3d829f7f1_2_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h2e1ae9e3d829f7f1_2_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h2e1ae9e3d829f7f1_2_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2e1ae9e3d829f7f1_2_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h2e1ae9e3d829f7f1_2_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h2e1ae9e3d829f7f1_2_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h2e1ae9e3d829f7f1_2_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2e1ae9e3d829f7f1_2_4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h2e1ae9e3d829f7f1_2_4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h2e1ae9e3d829f7f1_2_4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h2e1ae9e3d829f7f1_2_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h2e1ae9e3d829f7f1_2_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h2e1ae9e3d829f7f1_2_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2e1ae9e3d829f7f1_2_5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h2e1ae9e3d829f7f1_2_5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h2e1ae9e3d829f7f1_2_5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h2e1ae9e3d829f7f1_2_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h2e1ae9e3d829f7f1_2_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h2e1ae9e3d829f7f1_2_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2e1ae9e3d829f7f1_2_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h2e1ae9e3d829f7f1_2_6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h2e1ae9e3d829f7f1_2_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h2e1ae9e3d829f7f1_2_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h2e1ae9e3d829f7f1_2_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2e1ae9e3d829f7f1_2_6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h2e1ae9e3d829f7f1_2_6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h2e1ae9e3d829f7f1_2_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h2e1ae9e3d829f7f1_2_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h2e1ae9e3d829f7f1_2_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2e1ae9e3d829f7f1_2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h2e1ae9e3d829f7f1_2_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h2e1ae9e3d829f7f1_2_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h2e1ae9e3d829f7f1_2_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h2e1ae9e3d829f7f1_2_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5.jpg"/><Relationship Id="rId5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326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PROJECT ONE  ·  ROUTING  ·  WI-01</a:t>
            </a:r>
            <a:endParaRPr/>
          </a:p>
        </p:txBody>
      </p:sp>
      <p:sp>
        <p:nvSpPr>
          <p:cNvPr id="160" name="Google Shape;160;p1"/>
          <p:cNvSpPr txBox="1"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Bench setup, frame assembly, motor mounting</a:t>
            </a:r>
            <a:endParaRPr/>
          </a:p>
        </p:txBody>
      </p:sp>
      <p:sp>
        <p:nvSpPr>
          <p:cNvPr id="161" name="Google Shape;161;p1"/>
          <p:cNvSpPr txBox="1"/>
          <p:nvPr/>
        </p:nvSpPr>
        <p:spPr>
          <a:xfrm>
            <a:off x="731520" y="36576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/>
          </a:p>
        </p:txBody>
      </p:sp>
      <p:sp>
        <p:nvSpPr>
          <p:cNvPr id="162" name="Google Shape;162;p1"/>
          <p:cNvSpPr txBox="1"/>
          <p:nvPr/>
        </p:nvSpPr>
        <p:spPr>
          <a:xfrm>
            <a:off x="2286000" y="36576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6E8EA"/>
                </a:solidFill>
                <a:latin typeface="Calibri"/>
                <a:ea typeface="Calibri"/>
                <a:cs typeface="Calibri"/>
                <a:sym typeface="Calibri"/>
              </a:rPr>
              <a:t>Complete — 2026-09-20</a:t>
            </a:r>
            <a:endParaRPr/>
          </a:p>
        </p:txBody>
      </p:sp>
      <p:sp>
        <p:nvSpPr>
          <p:cNvPr id="163" name="Google Shape;163;p1"/>
          <p:cNvSpPr txBox="1"/>
          <p:nvPr/>
        </p:nvSpPr>
        <p:spPr>
          <a:xfrm>
            <a:off x="731520" y="4053332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NEEDS</a:t>
            </a:r>
            <a:endParaRPr/>
          </a:p>
        </p:txBody>
      </p:sp>
      <p:sp>
        <p:nvSpPr>
          <p:cNvPr id="164" name="Google Shape;164;p1"/>
          <p:cNvSpPr txBox="1"/>
          <p:nvPr/>
        </p:nvSpPr>
        <p:spPr>
          <a:xfrm>
            <a:off x="2286000" y="4053332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6E8EA"/>
                </a:solidFill>
                <a:latin typeface="Calibri"/>
                <a:ea typeface="Calibri"/>
                <a:cs typeface="Calibri"/>
                <a:sym typeface="Calibri"/>
              </a:rPr>
              <a:t>Everything that has arrived. Not the flight controller.</a:t>
            </a:r>
            <a:endParaRPr/>
          </a:p>
        </p:txBody>
      </p:sp>
      <p:sp>
        <p:nvSpPr>
          <p:cNvPr id="165" name="Google Shape;165;p1"/>
          <p:cNvSpPr txBox="1"/>
          <p:nvPr/>
        </p:nvSpPr>
        <p:spPr>
          <a:xfrm>
            <a:off x="731520" y="4449064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BATTERY</a:t>
            </a:r>
            <a:endParaRPr/>
          </a:p>
        </p:txBody>
      </p:sp>
      <p:sp>
        <p:nvSpPr>
          <p:cNvPr id="166" name="Google Shape;166;p1"/>
          <p:cNvSpPr txBox="1"/>
          <p:nvPr/>
        </p:nvSpPr>
        <p:spPr>
          <a:xfrm>
            <a:off x="2286000" y="4449064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6E8EA"/>
                </a:solidFill>
                <a:latin typeface="Calibri"/>
                <a:ea typeface="Calibri"/>
                <a:cs typeface="Calibri"/>
                <a:sym typeface="Calibri"/>
              </a:rPr>
              <a:t>Stays in the LiPo bag for the entire WI. Not needed, not used.</a:t>
            </a:r>
            <a:endParaRPr/>
          </a:p>
        </p:txBody>
      </p:sp>
      <p:sp>
        <p:nvSpPr>
          <p:cNvPr id="167" name="Google Shape;167;p1"/>
          <p:cNvSpPr txBox="1"/>
          <p:nvPr/>
        </p:nvSpPr>
        <p:spPr>
          <a:xfrm>
            <a:off x="731520" y="4844796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sp>
        <p:nvSpPr>
          <p:cNvPr id="168" name="Google Shape;168;p1"/>
          <p:cNvSpPr txBox="1"/>
          <p:nvPr/>
        </p:nvSpPr>
        <p:spPr>
          <a:xfrm>
            <a:off x="2286000" y="4844796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6E8EA"/>
                </a:solidFill>
                <a:latin typeface="Calibri"/>
                <a:ea typeface="Calibri"/>
                <a:cs typeface="Calibri"/>
                <a:sym typeface="Calibri"/>
              </a:rPr>
              <a:t>~2 h 15 min across five operations</a:t>
            </a:r>
            <a:endParaRPr/>
          </a:p>
        </p:txBody>
      </p:sp>
      <p:sp>
        <p:nvSpPr>
          <p:cNvPr id="169" name="Google Shape;169;p1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AA3A9"/>
                </a:solidFill>
                <a:latin typeface="Calibri"/>
                <a:ea typeface="Calibri"/>
                <a:cs typeface="Calibri"/>
                <a:sym typeface="Calibri"/>
              </a:rPr>
              <a:t>WI-01 · Bench setup, frame assembly, motor mounting</a:t>
            </a:r>
            <a:endParaRPr/>
          </a:p>
        </p:txBody>
      </p:sp>
      <p:sp>
        <p:nvSpPr>
          <p:cNvPr id="170" name="Google Shape;170;p1"/>
          <p:cNvSpPr txBox="1"/>
          <p:nvPr/>
        </p:nvSpPr>
        <p:spPr>
          <a:xfrm>
            <a:off x="7498079" y="63550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AA3A9"/>
                </a:solidFill>
                <a:latin typeface="Calibri"/>
                <a:ea typeface="Calibri"/>
                <a:cs typeface="Calibri"/>
                <a:sym typeface="Calibri"/>
              </a:rPr>
              <a:t>One slide per step · one photo · one check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/>
          <p:nvPr/>
        </p:nvSpPr>
        <p:spPr>
          <a:xfrm>
            <a:off x="548640" y="457200"/>
            <a:ext cx="1005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Deck · WI-01</a:t>
            </a:r>
            <a:endParaRPr/>
          </a:p>
        </p:txBody>
      </p:sp>
      <p:sp>
        <p:nvSpPr>
          <p:cNvPr id="176" name="Google Shape;176;p2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77" name="Google Shape;177;p2"/>
          <p:cNvSpPr txBox="1"/>
          <p:nvPr/>
        </p:nvSpPr>
        <p:spPr>
          <a:xfrm>
            <a:off x="1051560" y="15544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Tools &amp; parts on the bench</a:t>
            </a:r>
            <a:endParaRPr/>
          </a:p>
        </p:txBody>
      </p:sp>
      <p:sp>
        <p:nvSpPr>
          <p:cNvPr id="178" name="Google Shape;178;p2"/>
          <p:cNvSpPr/>
          <p:nvPr/>
        </p:nvSpPr>
        <p:spPr>
          <a:xfrm>
            <a:off x="548640" y="20116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9" name="Google Shape;179;p2"/>
          <p:cNvSpPr txBox="1"/>
          <p:nvPr/>
        </p:nvSpPr>
        <p:spPr>
          <a:xfrm>
            <a:off x="1051560" y="20116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Prove the iron: heat, hold, tin</a:t>
            </a:r>
            <a:endParaRPr/>
          </a:p>
        </p:txBody>
      </p:sp>
      <p:sp>
        <p:nvSpPr>
          <p:cNvPr id="180" name="Google Shape;180;p2"/>
          <p:cNvSpPr txBox="1"/>
          <p:nvPr/>
        </p:nvSpPr>
        <p:spPr>
          <a:xfrm>
            <a:off x="4663440" y="20116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10</a:t>
            </a:r>
            <a:endParaRPr/>
          </a:p>
        </p:txBody>
      </p:sp>
      <p:sp>
        <p:nvSpPr>
          <p:cNvPr id="181" name="Google Shape;181;p2"/>
          <p:cNvSpPr/>
          <p:nvPr/>
        </p:nvSpPr>
        <p:spPr>
          <a:xfrm>
            <a:off x="548640" y="24688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</a:t>
            </a:r>
            <a:endParaRPr/>
          </a:p>
        </p:txBody>
      </p:sp>
      <p:sp>
        <p:nvSpPr>
          <p:cNvPr id="182" name="Google Shape;182;p2"/>
          <p:cNvSpPr txBox="1"/>
          <p:nvPr/>
        </p:nvSpPr>
        <p:spPr>
          <a:xfrm>
            <a:off x="1051560" y="24688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Three practice joints on scrap</a:t>
            </a:r>
            <a:endParaRPr/>
          </a:p>
        </p:txBody>
      </p:sp>
      <p:sp>
        <p:nvSpPr>
          <p:cNvPr id="183" name="Google Shape;183;p2"/>
          <p:cNvSpPr txBox="1"/>
          <p:nvPr/>
        </p:nvSpPr>
        <p:spPr>
          <a:xfrm>
            <a:off x="4663440" y="24688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10</a:t>
            </a:r>
            <a:endParaRPr/>
          </a:p>
        </p:txBody>
      </p:sp>
      <p:sp>
        <p:nvSpPr>
          <p:cNvPr id="184" name="Google Shape;184;p2"/>
          <p:cNvSpPr/>
          <p:nvPr/>
        </p:nvSpPr>
        <p:spPr>
          <a:xfrm>
            <a:off x="548640" y="29260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</a:t>
            </a:r>
            <a:endParaRPr/>
          </a:p>
        </p:txBody>
      </p:sp>
      <p:sp>
        <p:nvSpPr>
          <p:cNvPr id="185" name="Google Shape;185;p2"/>
          <p:cNvSpPr txBox="1"/>
          <p:nvPr/>
        </p:nvSpPr>
        <p:spPr>
          <a:xfrm>
            <a:off x="1051560" y="29260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Inventory the open boxes</a:t>
            </a:r>
            <a:endParaRPr/>
          </a:p>
        </p:txBody>
      </p:sp>
      <p:sp>
        <p:nvSpPr>
          <p:cNvPr id="186" name="Google Shape;186;p2"/>
          <p:cNvSpPr txBox="1"/>
          <p:nvPr/>
        </p:nvSpPr>
        <p:spPr>
          <a:xfrm>
            <a:off x="4663440" y="2926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20</a:t>
            </a:r>
            <a:endParaRPr/>
          </a:p>
        </p:txBody>
      </p:sp>
      <p:sp>
        <p:nvSpPr>
          <p:cNvPr id="187" name="Google Shape;187;p2"/>
          <p:cNvSpPr/>
          <p:nvPr/>
        </p:nvSpPr>
        <p:spPr>
          <a:xfrm>
            <a:off x="548640" y="33832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8" name="Google Shape;188;p2"/>
          <p:cNvSpPr txBox="1"/>
          <p:nvPr/>
        </p:nvSpPr>
        <p:spPr>
          <a:xfrm>
            <a:off x="1051560" y="33832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Battery storage-voltage check</a:t>
            </a:r>
            <a:endParaRPr/>
          </a:p>
        </p:txBody>
      </p:sp>
      <p:sp>
        <p:nvSpPr>
          <p:cNvPr id="189" name="Google Shape;189;p2"/>
          <p:cNvSpPr txBox="1"/>
          <p:nvPr/>
        </p:nvSpPr>
        <p:spPr>
          <a:xfrm>
            <a:off x="4663440" y="33832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20</a:t>
            </a:r>
            <a:endParaRPr/>
          </a:p>
        </p:txBody>
      </p:sp>
      <p:sp>
        <p:nvSpPr>
          <p:cNvPr id="190" name="Google Shape;190;p2"/>
          <p:cNvSpPr/>
          <p:nvPr/>
        </p:nvSpPr>
        <p:spPr>
          <a:xfrm>
            <a:off x="548640" y="38404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91" name="Google Shape;191;p2"/>
          <p:cNvSpPr txBox="1"/>
          <p:nvPr/>
        </p:nvSpPr>
        <p:spPr>
          <a:xfrm>
            <a:off x="1051560" y="38404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Lay out the frame kit</a:t>
            </a:r>
            <a:endParaRPr/>
          </a:p>
        </p:txBody>
      </p:sp>
      <p:sp>
        <p:nvSpPr>
          <p:cNvPr id="192" name="Google Shape;192;p2"/>
          <p:cNvSpPr txBox="1"/>
          <p:nvPr/>
        </p:nvSpPr>
        <p:spPr>
          <a:xfrm>
            <a:off x="4663440" y="38404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30</a:t>
            </a:r>
            <a:endParaRPr/>
          </a:p>
        </p:txBody>
      </p:sp>
      <p:sp>
        <p:nvSpPr>
          <p:cNvPr id="193" name="Google Shape;193;p2"/>
          <p:cNvSpPr/>
          <p:nvPr/>
        </p:nvSpPr>
        <p:spPr>
          <a:xfrm>
            <a:off x="548640" y="42976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94" name="Google Shape;194;p2"/>
          <p:cNvSpPr txBox="1"/>
          <p:nvPr/>
        </p:nvSpPr>
        <p:spPr>
          <a:xfrm>
            <a:off x="1051560" y="42976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Bottom plate, arms, standoffs</a:t>
            </a:r>
            <a:endParaRPr/>
          </a:p>
        </p:txBody>
      </p:sp>
      <p:sp>
        <p:nvSpPr>
          <p:cNvPr id="195" name="Google Shape;195;p2"/>
          <p:cNvSpPr txBox="1"/>
          <p:nvPr/>
        </p:nvSpPr>
        <p:spPr>
          <a:xfrm>
            <a:off x="4663440" y="42976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30</a:t>
            </a:r>
            <a:endParaRPr/>
          </a:p>
        </p:txBody>
      </p:sp>
      <p:sp>
        <p:nvSpPr>
          <p:cNvPr id="196" name="Google Shape;196;p2"/>
          <p:cNvSpPr/>
          <p:nvPr/>
        </p:nvSpPr>
        <p:spPr>
          <a:xfrm>
            <a:off x="548640" y="47548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97" name="Google Shape;197;p2"/>
          <p:cNvSpPr txBox="1"/>
          <p:nvPr/>
        </p:nvSpPr>
        <p:spPr>
          <a:xfrm>
            <a:off x="1051560" y="47548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Frame check: flat and square</a:t>
            </a:r>
            <a:endParaRPr/>
          </a:p>
        </p:txBody>
      </p:sp>
      <p:sp>
        <p:nvSpPr>
          <p:cNvPr id="198" name="Google Shape;198;p2"/>
          <p:cNvSpPr txBox="1"/>
          <p:nvPr/>
        </p:nvSpPr>
        <p:spPr>
          <a:xfrm>
            <a:off x="4663440" y="47548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30</a:t>
            </a:r>
            <a:endParaRPr/>
          </a:p>
        </p:txBody>
      </p:sp>
      <p:sp>
        <p:nvSpPr>
          <p:cNvPr id="199" name="Google Shape;199;p2"/>
          <p:cNvSpPr/>
          <p:nvPr/>
        </p:nvSpPr>
        <p:spPr>
          <a:xfrm>
            <a:off x="6309360" y="15544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00" name="Google Shape;200;p2"/>
          <p:cNvSpPr txBox="1"/>
          <p:nvPr/>
        </p:nvSpPr>
        <p:spPr>
          <a:xfrm>
            <a:off x="6812280" y="15544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Motor screw length — do the math</a:t>
            </a:r>
            <a:endParaRPr/>
          </a:p>
        </p:txBody>
      </p:sp>
      <p:sp>
        <p:nvSpPr>
          <p:cNvPr id="201" name="Google Shape;201;p2"/>
          <p:cNvSpPr txBox="1"/>
          <p:nvPr/>
        </p:nvSpPr>
        <p:spPr>
          <a:xfrm>
            <a:off x="10424160" y="15544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40</a:t>
            </a:r>
            <a:endParaRPr/>
          </a:p>
        </p:txBody>
      </p:sp>
      <p:sp>
        <p:nvSpPr>
          <p:cNvPr id="202" name="Google Shape;202;p2"/>
          <p:cNvSpPr/>
          <p:nvPr/>
        </p:nvSpPr>
        <p:spPr>
          <a:xfrm>
            <a:off x="6309360" y="20116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03" name="Google Shape;203;p2"/>
          <p:cNvSpPr txBox="1"/>
          <p:nvPr/>
        </p:nvSpPr>
        <p:spPr>
          <a:xfrm>
            <a:off x="6812280" y="20116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Loctite: dab, dip, drive</a:t>
            </a:r>
            <a:endParaRPr/>
          </a:p>
        </p:txBody>
      </p:sp>
      <p:sp>
        <p:nvSpPr>
          <p:cNvPr id="204" name="Google Shape;204;p2"/>
          <p:cNvSpPr txBox="1"/>
          <p:nvPr/>
        </p:nvSpPr>
        <p:spPr>
          <a:xfrm>
            <a:off x="10424160" y="20116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40</a:t>
            </a:r>
            <a:endParaRPr/>
          </a:p>
        </p:txBody>
      </p:sp>
      <p:sp>
        <p:nvSpPr>
          <p:cNvPr id="205" name="Google Shape;205;p2"/>
          <p:cNvSpPr/>
          <p:nvPr/>
        </p:nvSpPr>
        <p:spPr>
          <a:xfrm>
            <a:off x="6309360" y="24688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06" name="Google Shape;206;p2"/>
          <p:cNvSpPr txBox="1"/>
          <p:nvPr/>
        </p:nvSpPr>
        <p:spPr>
          <a:xfrm>
            <a:off x="6812280" y="24688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Seat the motor on the arm</a:t>
            </a:r>
            <a:endParaRPr/>
          </a:p>
        </p:txBody>
      </p:sp>
      <p:sp>
        <p:nvSpPr>
          <p:cNvPr id="207" name="Google Shape;207;p2"/>
          <p:cNvSpPr txBox="1"/>
          <p:nvPr/>
        </p:nvSpPr>
        <p:spPr>
          <a:xfrm>
            <a:off x="10424160" y="24688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40</a:t>
            </a:r>
            <a:endParaRPr/>
          </a:p>
        </p:txBody>
      </p:sp>
      <p:sp>
        <p:nvSpPr>
          <p:cNvPr id="208" name="Google Shape;208;p2"/>
          <p:cNvSpPr/>
          <p:nvPr/>
        </p:nvSpPr>
        <p:spPr>
          <a:xfrm>
            <a:off x="6309360" y="29260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09" name="Google Shape;209;p2"/>
          <p:cNvSpPr txBox="1"/>
          <p:nvPr/>
        </p:nvSpPr>
        <p:spPr>
          <a:xfrm>
            <a:off x="6812280" y="29260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Drive the screws in a cross pattern</a:t>
            </a:r>
            <a:endParaRPr/>
          </a:p>
        </p:txBody>
      </p:sp>
      <p:sp>
        <p:nvSpPr>
          <p:cNvPr id="210" name="Google Shape;210;p2"/>
          <p:cNvSpPr txBox="1"/>
          <p:nvPr/>
        </p:nvSpPr>
        <p:spPr>
          <a:xfrm>
            <a:off x="10424160" y="2926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40</a:t>
            </a:r>
            <a:endParaRPr/>
          </a:p>
        </p:txBody>
      </p:sp>
      <p:sp>
        <p:nvSpPr>
          <p:cNvPr id="211" name="Google Shape;211;p2"/>
          <p:cNvSpPr/>
          <p:nvPr/>
        </p:nvSpPr>
        <p:spPr>
          <a:xfrm>
            <a:off x="6309360" y="33832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212" name="Google Shape;212;p2"/>
          <p:cNvSpPr txBox="1"/>
          <p:nvPr/>
        </p:nvSpPr>
        <p:spPr>
          <a:xfrm>
            <a:off x="6812280" y="33832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Motor check: free spin, wires untrimmed</a:t>
            </a:r>
            <a:endParaRPr/>
          </a:p>
        </p:txBody>
      </p:sp>
      <p:sp>
        <p:nvSpPr>
          <p:cNvPr id="213" name="Google Shape;213;p2"/>
          <p:cNvSpPr txBox="1"/>
          <p:nvPr/>
        </p:nvSpPr>
        <p:spPr>
          <a:xfrm>
            <a:off x="10424160" y="33832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40</a:t>
            </a:r>
            <a:endParaRPr/>
          </a:p>
        </p:txBody>
      </p:sp>
      <p:sp>
        <p:nvSpPr>
          <p:cNvPr id="214" name="Google Shape;214;p2"/>
          <p:cNvSpPr/>
          <p:nvPr/>
        </p:nvSpPr>
        <p:spPr>
          <a:xfrm>
            <a:off x="6309360" y="38404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215" name="Google Shape;215;p2"/>
          <p:cNvSpPr txBox="1"/>
          <p:nvPr/>
        </p:nvSpPr>
        <p:spPr>
          <a:xfrm>
            <a:off x="6812280" y="38404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Stage the ESC and route the wires</a:t>
            </a:r>
            <a:endParaRPr/>
          </a:p>
        </p:txBody>
      </p:sp>
      <p:sp>
        <p:nvSpPr>
          <p:cNvPr id="216" name="Google Shape;216;p2"/>
          <p:cNvSpPr txBox="1"/>
          <p:nvPr/>
        </p:nvSpPr>
        <p:spPr>
          <a:xfrm>
            <a:off x="10424160" y="38404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50</a:t>
            </a:r>
            <a:endParaRPr/>
          </a:p>
        </p:txBody>
      </p:sp>
      <p:sp>
        <p:nvSpPr>
          <p:cNvPr id="217" name="Google Shape;217;p2"/>
          <p:cNvSpPr/>
          <p:nvPr/>
        </p:nvSpPr>
        <p:spPr>
          <a:xfrm>
            <a:off x="6309360" y="42976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218" name="Google Shape;218;p2"/>
          <p:cNvSpPr txBox="1"/>
          <p:nvPr/>
        </p:nvSpPr>
        <p:spPr>
          <a:xfrm>
            <a:off x="6812280" y="42976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End state</a:t>
            </a:r>
            <a:endParaRPr/>
          </a:p>
        </p:txBody>
      </p:sp>
      <p:sp>
        <p:nvSpPr>
          <p:cNvPr id="219" name="Google Shape;219;p2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WI-01 · Bench setup, frame assembly, motor mounting</a:t>
            </a:r>
            <a:endParaRPr/>
          </a:p>
        </p:txBody>
      </p:sp>
      <p:sp>
        <p:nvSpPr>
          <p:cNvPr id="220" name="Google Shape;220;p2"/>
          <p:cNvSpPr txBox="1"/>
          <p:nvPr/>
        </p:nvSpPr>
        <p:spPr>
          <a:xfrm>
            <a:off x="7498079" y="6355080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Steps 1-13 of 24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2e1ae9e3d829f7f1_2_91"/>
          <p:cNvSpPr txBox="1"/>
          <p:nvPr/>
        </p:nvSpPr>
        <p:spPr>
          <a:xfrm>
            <a:off x="548640" y="457200"/>
            <a:ext cx="1005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Deck · WI-02</a:t>
            </a:r>
            <a:endParaRPr/>
          </a:p>
        </p:txBody>
      </p:sp>
      <p:sp>
        <p:nvSpPr>
          <p:cNvPr id="226" name="Google Shape;226;h2e1ae9e3d829f7f1_2_91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227" name="Google Shape;227;h2e1ae9e3d829f7f1_2_91"/>
          <p:cNvSpPr txBox="1"/>
          <p:nvPr/>
        </p:nvSpPr>
        <p:spPr>
          <a:xfrm>
            <a:off x="1051560" y="15544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Tools &amp; parts on the bench</a:t>
            </a:r>
            <a:endParaRPr/>
          </a:p>
        </p:txBody>
      </p:sp>
      <p:sp>
        <p:nvSpPr>
          <p:cNvPr id="228" name="Google Shape;228;h2e1ae9e3d829f7f1_2_91"/>
          <p:cNvSpPr/>
          <p:nvPr/>
        </p:nvSpPr>
        <p:spPr>
          <a:xfrm>
            <a:off x="548640" y="20116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229" name="Google Shape;229;h2e1ae9e3d829f7f1_2_91"/>
          <p:cNvSpPr txBox="1"/>
          <p:nvPr/>
        </p:nvSpPr>
        <p:spPr>
          <a:xfrm>
            <a:off x="1051560" y="20116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Trim, strip, and tin the motor wires</a:t>
            </a:r>
            <a:endParaRPr/>
          </a:p>
        </p:txBody>
      </p:sp>
      <p:sp>
        <p:nvSpPr>
          <p:cNvPr id="230" name="Google Shape;230;h2e1ae9e3d829f7f1_2_91"/>
          <p:cNvSpPr txBox="1"/>
          <p:nvPr/>
        </p:nvSpPr>
        <p:spPr>
          <a:xfrm>
            <a:off x="4663440" y="20116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10</a:t>
            </a:r>
            <a:endParaRPr/>
          </a:p>
        </p:txBody>
      </p:sp>
      <p:sp>
        <p:nvSpPr>
          <p:cNvPr id="231" name="Google Shape;231;h2e1ae9e3d829f7f1_2_91"/>
          <p:cNvSpPr/>
          <p:nvPr/>
        </p:nvSpPr>
        <p:spPr>
          <a:xfrm>
            <a:off x="548640" y="24688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232" name="Google Shape;232;h2e1ae9e3d829f7f1_2_91"/>
          <p:cNvSpPr txBox="1"/>
          <p:nvPr/>
        </p:nvSpPr>
        <p:spPr>
          <a:xfrm>
            <a:off x="1051560" y="24688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Tin the twelve ESC motor pads</a:t>
            </a:r>
            <a:endParaRPr/>
          </a:p>
        </p:txBody>
      </p:sp>
      <p:sp>
        <p:nvSpPr>
          <p:cNvPr id="233" name="Google Shape;233;h2e1ae9e3d829f7f1_2_91"/>
          <p:cNvSpPr txBox="1"/>
          <p:nvPr/>
        </p:nvSpPr>
        <p:spPr>
          <a:xfrm>
            <a:off x="4663440" y="24688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10</a:t>
            </a:r>
            <a:endParaRPr/>
          </a:p>
        </p:txBody>
      </p:sp>
      <p:sp>
        <p:nvSpPr>
          <p:cNvPr id="234" name="Google Shape;234;h2e1ae9e3d829f7f1_2_91"/>
          <p:cNvSpPr/>
          <p:nvPr/>
        </p:nvSpPr>
        <p:spPr>
          <a:xfrm>
            <a:off x="548640" y="29260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235" name="Google Shape;235;h2e1ae9e3d829f7f1_2_91"/>
          <p:cNvSpPr txBox="1"/>
          <p:nvPr/>
        </p:nvSpPr>
        <p:spPr>
          <a:xfrm>
            <a:off x="1051560" y="29260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Solder each motor wire to its pad</a:t>
            </a:r>
            <a:endParaRPr/>
          </a:p>
        </p:txBody>
      </p:sp>
      <p:sp>
        <p:nvSpPr>
          <p:cNvPr id="236" name="Google Shape;236;h2e1ae9e3d829f7f1_2_91"/>
          <p:cNvSpPr txBox="1"/>
          <p:nvPr/>
        </p:nvSpPr>
        <p:spPr>
          <a:xfrm>
            <a:off x="4663440" y="2926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10</a:t>
            </a:r>
            <a:endParaRPr/>
          </a:p>
        </p:txBody>
      </p:sp>
      <p:sp>
        <p:nvSpPr>
          <p:cNvPr id="237" name="Google Shape;237;h2e1ae9e3d829f7f1_2_91"/>
          <p:cNvSpPr/>
          <p:nvPr/>
        </p:nvSpPr>
        <p:spPr>
          <a:xfrm>
            <a:off x="548640" y="33832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238" name="Google Shape;238;h2e1ae9e3d829f7f1_2_91"/>
          <p:cNvSpPr txBox="1"/>
          <p:nvPr/>
        </p:nvSpPr>
        <p:spPr>
          <a:xfrm>
            <a:off x="1051560" y="33832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Inspect: cone, no bridge, tug test</a:t>
            </a:r>
            <a:endParaRPr/>
          </a:p>
        </p:txBody>
      </p:sp>
      <p:sp>
        <p:nvSpPr>
          <p:cNvPr id="239" name="Google Shape;239;h2e1ae9e3d829f7f1_2_91"/>
          <p:cNvSpPr txBox="1"/>
          <p:nvPr/>
        </p:nvSpPr>
        <p:spPr>
          <a:xfrm>
            <a:off x="4663440" y="33832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10</a:t>
            </a:r>
            <a:endParaRPr/>
          </a:p>
        </p:txBody>
      </p:sp>
      <p:sp>
        <p:nvSpPr>
          <p:cNvPr id="240" name="Google Shape;240;h2e1ae9e3d829f7f1_2_91"/>
          <p:cNvSpPr/>
          <p:nvPr/>
        </p:nvSpPr>
        <p:spPr>
          <a:xfrm>
            <a:off x="548640" y="38404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sp>
        <p:nvSpPr>
          <p:cNvPr id="241" name="Google Shape;241;h2e1ae9e3d829f7f1_2_91"/>
          <p:cNvSpPr txBox="1"/>
          <p:nvPr/>
        </p:nvSpPr>
        <p:spPr>
          <a:xfrm>
            <a:off x="1051560" y="38404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Heat shrink goes on first</a:t>
            </a:r>
            <a:endParaRPr/>
          </a:p>
        </p:txBody>
      </p:sp>
      <p:sp>
        <p:nvSpPr>
          <p:cNvPr id="242" name="Google Shape;242;h2e1ae9e3d829f7f1_2_91"/>
          <p:cNvSpPr txBox="1"/>
          <p:nvPr/>
        </p:nvSpPr>
        <p:spPr>
          <a:xfrm>
            <a:off x="4663440" y="38404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20</a:t>
            </a:r>
            <a:endParaRPr/>
          </a:p>
        </p:txBody>
      </p:sp>
      <p:sp>
        <p:nvSpPr>
          <p:cNvPr id="243" name="Google Shape;243;h2e1ae9e3d829f7f1_2_91"/>
          <p:cNvSpPr/>
          <p:nvPr/>
        </p:nvSpPr>
        <p:spPr>
          <a:xfrm>
            <a:off x="6309360" y="15544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244" name="Google Shape;244;h2e1ae9e3d829f7f1_2_91"/>
          <p:cNvSpPr txBox="1"/>
          <p:nvPr/>
        </p:nvSpPr>
        <p:spPr>
          <a:xfrm>
            <a:off x="6812280" y="15544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XT60 to the battery pads</a:t>
            </a:r>
            <a:endParaRPr/>
          </a:p>
        </p:txBody>
      </p:sp>
      <p:sp>
        <p:nvSpPr>
          <p:cNvPr id="245" name="Google Shape;245;h2e1ae9e3d829f7f1_2_91"/>
          <p:cNvSpPr txBox="1"/>
          <p:nvPr/>
        </p:nvSpPr>
        <p:spPr>
          <a:xfrm>
            <a:off x="10424160" y="15544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20</a:t>
            </a:r>
            <a:endParaRPr/>
          </a:p>
        </p:txBody>
      </p:sp>
      <p:sp>
        <p:nvSpPr>
          <p:cNvPr id="246" name="Google Shape;246;h2e1ae9e3d829f7f1_2_91"/>
          <p:cNvSpPr/>
          <p:nvPr/>
        </p:nvSpPr>
        <p:spPr>
          <a:xfrm>
            <a:off x="6309360" y="20116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247" name="Google Shape;247;h2e1ae9e3d829f7f1_2_91"/>
          <p:cNvSpPr txBox="1"/>
          <p:nvPr/>
        </p:nvSpPr>
        <p:spPr>
          <a:xfrm>
            <a:off x="6812280" y="20116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Capacitor across the battery pads</a:t>
            </a:r>
            <a:endParaRPr/>
          </a:p>
        </p:txBody>
      </p:sp>
      <p:sp>
        <p:nvSpPr>
          <p:cNvPr id="248" name="Google Shape;248;h2e1ae9e3d829f7f1_2_91"/>
          <p:cNvSpPr txBox="1"/>
          <p:nvPr/>
        </p:nvSpPr>
        <p:spPr>
          <a:xfrm>
            <a:off x="10424160" y="20116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20</a:t>
            </a:r>
            <a:endParaRPr/>
          </a:p>
        </p:txBody>
      </p:sp>
      <p:sp>
        <p:nvSpPr>
          <p:cNvPr id="249" name="Google Shape;249;h2e1ae9e3d829f7f1_2_91"/>
          <p:cNvSpPr/>
          <p:nvPr/>
        </p:nvSpPr>
        <p:spPr>
          <a:xfrm>
            <a:off x="6309360" y="24688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250" name="Google Shape;250;h2e1ae9e3d829f7f1_2_91"/>
          <p:cNvSpPr txBox="1"/>
          <p:nvPr/>
        </p:nvSpPr>
        <p:spPr>
          <a:xfrm>
            <a:off x="6812280" y="24688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Shrink everything, no exposed copper</a:t>
            </a:r>
            <a:endParaRPr/>
          </a:p>
        </p:txBody>
      </p:sp>
      <p:sp>
        <p:nvSpPr>
          <p:cNvPr id="251" name="Google Shape;251;h2e1ae9e3d829f7f1_2_91"/>
          <p:cNvSpPr txBox="1"/>
          <p:nvPr/>
        </p:nvSpPr>
        <p:spPr>
          <a:xfrm>
            <a:off x="10424160" y="24688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20</a:t>
            </a:r>
            <a:endParaRPr/>
          </a:p>
        </p:txBody>
      </p:sp>
      <p:sp>
        <p:nvSpPr>
          <p:cNvPr id="252" name="Google Shape;252;h2e1ae9e3d829f7f1_2_91"/>
          <p:cNvSpPr/>
          <p:nvPr/>
        </p:nvSpPr>
        <p:spPr>
          <a:xfrm>
            <a:off x="6309360" y="29260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/>
          </a:p>
        </p:txBody>
      </p:sp>
      <p:sp>
        <p:nvSpPr>
          <p:cNvPr id="253" name="Google Shape;253;h2e1ae9e3d829f7f1_2_91"/>
          <p:cNvSpPr txBox="1"/>
          <p:nvPr/>
        </p:nvSpPr>
        <p:spPr>
          <a:xfrm>
            <a:off x="6812280" y="29260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Continuity audit</a:t>
            </a:r>
            <a:endParaRPr/>
          </a:p>
        </p:txBody>
      </p:sp>
      <p:sp>
        <p:nvSpPr>
          <p:cNvPr id="254" name="Google Shape;254;h2e1ae9e3d829f7f1_2_91"/>
          <p:cNvSpPr txBox="1"/>
          <p:nvPr/>
        </p:nvSpPr>
        <p:spPr>
          <a:xfrm>
            <a:off x="10424160" y="2926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30</a:t>
            </a:r>
            <a:endParaRPr/>
          </a:p>
        </p:txBody>
      </p:sp>
      <p:sp>
        <p:nvSpPr>
          <p:cNvPr id="255" name="Google Shape;255;h2e1ae9e3d829f7f1_2_91"/>
          <p:cNvSpPr/>
          <p:nvPr/>
        </p:nvSpPr>
        <p:spPr>
          <a:xfrm>
            <a:off x="6309360" y="33832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  <p:sp>
        <p:nvSpPr>
          <p:cNvPr id="256" name="Google Shape;256;h2e1ae9e3d829f7f1_2_91"/>
          <p:cNvSpPr txBox="1"/>
          <p:nvPr/>
        </p:nvSpPr>
        <p:spPr>
          <a:xfrm>
            <a:off x="6812280" y="338328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End state</a:t>
            </a:r>
            <a:endParaRPr/>
          </a:p>
        </p:txBody>
      </p:sp>
      <p:sp>
        <p:nvSpPr>
          <p:cNvPr id="257" name="Google Shape;257;h2e1ae9e3d829f7f1_2_91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WI-02 · ESC soldering: motors, XT60, capacitor</a:t>
            </a:r>
            <a:endParaRPr/>
          </a:p>
        </p:txBody>
      </p:sp>
      <p:sp>
        <p:nvSpPr>
          <p:cNvPr id="258" name="Google Shape;258;h2e1ae9e3d829f7f1_2_91"/>
          <p:cNvSpPr txBox="1"/>
          <p:nvPr/>
        </p:nvSpPr>
        <p:spPr>
          <a:xfrm>
            <a:off x="7498079" y="6355080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Steps 14-24 of 24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4" name="Google Shape;264;p3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Tools &amp; parts on the bench</a:t>
            </a:r>
            <a:endParaRPr/>
          </a:p>
        </p:txBody>
      </p:sp>
      <p:sp>
        <p:nvSpPr>
          <p:cNvPr id="266" name="Google Shape;266;p3"/>
          <p:cNvSpPr/>
          <p:nvPr/>
        </p:nvSpPr>
        <p:spPr>
          <a:xfrm>
            <a:off x="548640" y="5417312"/>
            <a:ext cx="5577840" cy="754888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"/>
          <p:cNvSpPr txBox="1"/>
          <p:nvPr/>
        </p:nvSpPr>
        <p:spPr>
          <a:xfrm>
            <a:off x="731520" y="5554472"/>
            <a:ext cx="5212080" cy="480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CHECK  </a:t>
            </a:r>
            <a:r>
              <a:rPr b="0" i="0" lang="en-US" sz="13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nothing on this list is still in a box you'd have to go find mid-step.</a:t>
            </a:r>
            <a:endParaRPr/>
          </a:p>
        </p:txBody>
      </p:sp>
      <p:sp>
        <p:nvSpPr>
          <p:cNvPr id="268" name="Google Shape;268;p3"/>
          <p:cNvSpPr txBox="1"/>
          <p:nvPr/>
        </p:nvSpPr>
        <p:spPr>
          <a:xfrm>
            <a:off x="548640" y="1691640"/>
            <a:ext cx="5577840" cy="231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ON THE BENCH BEFORE STARTING</a:t>
            </a:r>
            <a:endParaRPr/>
          </a:p>
        </p:txBody>
      </p:sp>
      <p:sp>
        <p:nvSpPr>
          <p:cNvPr id="269" name="Google Shape;269;p3"/>
          <p:cNvSpPr txBox="1"/>
          <p:nvPr/>
        </p:nvSpPr>
        <p:spPr>
          <a:xfrm>
            <a:off x="548640" y="1959356"/>
            <a:ext cx="5577900" cy="22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Soldering station — YIHUA 939D+ (75 W) with the largest chisel tip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Hex driver set, multimeter, calipers if you have them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Safety glasses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Loctite 243 (blue)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M3 screw assortment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Solder, Soldering Flux Paste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Hota D6 Pro AC/DC Smart Charger</a:t>
            </a:r>
            <a:endParaRPr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ColCase Lipo Guard (or alternative)</a:t>
            </a:r>
            <a:endParaRPr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WI-01 · Bench setup, frame assembly, motor mounting</a:t>
            </a:r>
            <a:endParaRPr/>
          </a:p>
        </p:txBody>
      </p:sp>
      <p:sp>
        <p:nvSpPr>
          <p:cNvPr id="271" name="Google Shape;271;p3"/>
          <p:cNvSpPr txBox="1"/>
          <p:nvPr/>
        </p:nvSpPr>
        <p:spPr>
          <a:xfrm>
            <a:off x="7498079" y="6355080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1 / 24</a:t>
            </a:r>
            <a:endParaRPr/>
          </a:p>
        </p:txBody>
      </p:sp>
      <p:pic>
        <p:nvPicPr>
          <p:cNvPr id="272" name="Google Shape;272;p3" title="Tools!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8188" y="0"/>
            <a:ext cx="51435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Picture 272" descr="01-tools-and-part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014" y="1801368"/>
            <a:ext cx="100908" cy="1345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78" name="Google Shape;278;p4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Prove the iron: heat, hold, tin</a:t>
            </a:r>
            <a:endParaRPr/>
          </a:p>
        </p:txBody>
      </p:sp>
      <p:sp>
        <p:nvSpPr>
          <p:cNvPr id="279" name="Google Shape;279;p4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10 · 5 MIN</a:t>
            </a:r>
            <a:endParaRPr/>
          </a:p>
        </p:txBody>
      </p:sp>
      <p:sp>
        <p:nvSpPr>
          <p:cNvPr id="280" name="Google Shape;280;p4"/>
          <p:cNvSpPr/>
          <p:nvPr/>
        </p:nvSpPr>
        <p:spPr>
          <a:xfrm>
            <a:off x="6492240" y="1691640"/>
            <a:ext cx="5166360" cy="4343400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 cap="flat" cmpd="sng" w="9525">
            <a:solidFill>
              <a:srgbClr val="E3E5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"/>
          <p:cNvSpPr txBox="1"/>
          <p:nvPr/>
        </p:nvSpPr>
        <p:spPr>
          <a:xfrm>
            <a:off x="6601968" y="1691640"/>
            <a:ext cx="4946904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PHOTO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02-iron-at-temperature.jpg</a:t>
            </a:r>
            <a:endParaRPr/>
          </a:p>
        </p:txBody>
      </p:sp>
      <p:sp>
        <p:nvSpPr>
          <p:cNvPr id="282" name="Google Shape;282;p4"/>
          <p:cNvSpPr/>
          <p:nvPr/>
        </p:nvSpPr>
        <p:spPr>
          <a:xfrm>
            <a:off x="548640" y="5087112"/>
            <a:ext cx="5577840" cy="1085088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4"/>
          <p:cNvSpPr txBox="1"/>
          <p:nvPr/>
        </p:nvSpPr>
        <p:spPr>
          <a:xfrm>
            <a:off x="731520" y="5224272"/>
            <a:ext cx="5212080" cy="810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CHECK  </a:t>
            </a: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display reaches and holds temperature. Solder flows and coats the tip instantly; if it balls up, the tip isn't hot or isn't clean.</a:t>
            </a:r>
            <a:endParaRPr/>
          </a:p>
        </p:txBody>
      </p:sp>
      <p:sp>
        <p:nvSpPr>
          <p:cNvPr id="284" name="Google Shape;284;p4"/>
          <p:cNvSpPr txBox="1"/>
          <p:nvPr/>
        </p:nvSpPr>
        <p:spPr>
          <a:xfrm>
            <a:off x="548640" y="1691640"/>
            <a:ext cx="5577840" cy="883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The AiXun sat in its box, turned out to be defective, and cost a week. The first thing the new iron does is prove it works.</a:t>
            </a:r>
            <a:endParaRPr/>
          </a:p>
        </p:txBody>
      </p:sp>
      <p:sp>
        <p:nvSpPr>
          <p:cNvPr id="285" name="Google Shape;285;p4"/>
          <p:cNvSpPr txBox="1"/>
          <p:nvPr/>
        </p:nvSpPr>
        <p:spPr>
          <a:xfrm>
            <a:off x="548640" y="2648712"/>
            <a:ext cx="5577840" cy="2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/>
          </a:p>
        </p:txBody>
      </p:sp>
      <p:sp>
        <p:nvSpPr>
          <p:cNvPr id="286" name="Google Shape;286;p4"/>
          <p:cNvSpPr txBox="1"/>
          <p:nvPr/>
        </p:nvSpPr>
        <p:spPr>
          <a:xfrm>
            <a:off x="548640" y="2949448"/>
            <a:ext cx="55778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Power on the YIHUA. Set </a:t>
            </a:r>
            <a:r>
              <a:rPr b="1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350 °C / 662 °F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Fit the </a:t>
            </a:r>
            <a:r>
              <a:rPr b="1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largest chisel tip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Tin it — touch solder to the hot tip.</a:t>
            </a:r>
            <a:endParaRPr/>
          </a:p>
        </p:txBody>
      </p:sp>
      <p:sp>
        <p:nvSpPr>
          <p:cNvPr id="287" name="Google Shape;287;p4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WI-01 · Bench setup, frame assembly, motor mounting</a:t>
            </a:r>
            <a:endParaRPr/>
          </a:p>
        </p:txBody>
      </p:sp>
      <p:sp>
        <p:nvSpPr>
          <p:cNvPr id="288" name="Google Shape;288;p4"/>
          <p:cNvSpPr txBox="1"/>
          <p:nvPr/>
        </p:nvSpPr>
        <p:spPr>
          <a:xfrm>
            <a:off x="7498079" y="6355080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2 / 24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94" name="Google Shape;294;p7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Battery storage-voltage check</a:t>
            </a:r>
            <a:endParaRPr/>
          </a:p>
        </p:txBody>
      </p:sp>
      <p:sp>
        <p:nvSpPr>
          <p:cNvPr id="295" name="Google Shape;295;p7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20 · 5 MIN</a:t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6729984" y="2395728"/>
            <a:ext cx="4928700" cy="3319200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 cap="flat" cmpd="sng" w="9525">
            <a:solidFill>
              <a:srgbClr val="E3E5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05a-battery-voltage-check.jpg" id="297" name="Google Shape;2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2280" y="2496312"/>
            <a:ext cx="2350008" cy="31181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5b-battery-back-in-bag.jpg" id="298" name="Google Shape;29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35440" y="2496312"/>
            <a:ext cx="2340864" cy="3273552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7"/>
          <p:cNvSpPr/>
          <p:nvPr/>
        </p:nvSpPr>
        <p:spPr>
          <a:xfrm>
            <a:off x="548640" y="4558792"/>
            <a:ext cx="4297680" cy="1613408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 txBox="1"/>
          <p:nvPr/>
        </p:nvSpPr>
        <p:spPr>
          <a:xfrm>
            <a:off x="731520" y="4695952"/>
            <a:ext cx="3931920" cy="133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CHECK  </a:t>
            </a:r>
            <a:r>
              <a:rPr b="1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~22.2–22.8 V</a:t>
            </a: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for a 6S pack at storage charge (3.7–3.8 V per cell). Anything far outside that range is a question for the charger, not the bench.</a:t>
            </a:r>
            <a:endParaRPr/>
          </a:p>
        </p:txBody>
      </p:sp>
      <p:sp>
        <p:nvSpPr>
          <p:cNvPr id="301" name="Google Shape;301;p7"/>
          <p:cNvSpPr txBox="1"/>
          <p:nvPr/>
        </p:nvSpPr>
        <p:spPr>
          <a:xfrm>
            <a:off x="548640" y="2395728"/>
            <a:ext cx="4297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/>
          </a:p>
        </p:txBody>
      </p:sp>
      <p:sp>
        <p:nvSpPr>
          <p:cNvPr id="302" name="Google Shape;302;p7"/>
          <p:cNvSpPr txBox="1"/>
          <p:nvPr/>
        </p:nvSpPr>
        <p:spPr>
          <a:xfrm>
            <a:off x="548640" y="2697480"/>
            <a:ext cx="4297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Multimeter on DC volts.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Measure pack voltage at the XT60 — red probe to the + pin, black to −.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Straight back into the LiPo bag.</a:t>
            </a:r>
            <a:endParaRPr/>
          </a:p>
        </p:txBody>
      </p:sp>
      <p:sp>
        <p:nvSpPr>
          <p:cNvPr id="303" name="Google Shape;303;p7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WI-01 · Bench setup, frame assembly, motor mounting</a:t>
            </a:r>
            <a:endParaRPr/>
          </a:p>
        </p:txBody>
      </p:sp>
      <p:sp>
        <p:nvSpPr>
          <p:cNvPr id="304" name="Google Shape;304;p7"/>
          <p:cNvSpPr txBox="1"/>
          <p:nvPr/>
        </p:nvSpPr>
        <p:spPr>
          <a:xfrm>
            <a:off x="7498079" y="6355080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3 / 24</a:t>
            </a:r>
            <a:endParaRPr/>
          </a:p>
        </p:txBody>
      </p:sp>
      <p:sp>
        <p:nvSpPr>
          <p:cNvPr id="305" name="Google Shape;305;p7"/>
          <p:cNvSpPr txBox="1"/>
          <p:nvPr/>
        </p:nvSpPr>
        <p:spPr>
          <a:xfrm>
            <a:off x="548640" y="1600200"/>
            <a:ext cx="11109900" cy="567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TOOLS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⚡ Multimeter · Safety glasses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⚡ 6S LiPo pack (XT60) · LiPo bag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8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11" name="Google Shape;311;p8"/>
          <p:cNvSpPr txBox="1"/>
          <p:nvPr/>
        </p:nvSpPr>
        <p:spPr>
          <a:xfrm>
            <a:off x="1325880" y="384048"/>
            <a:ext cx="10241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Lay out the frame kit</a:t>
            </a:r>
            <a:endParaRPr/>
          </a:p>
        </p:txBody>
      </p:sp>
      <p:sp>
        <p:nvSpPr>
          <p:cNvPr id="312" name="Google Shape;312;p8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30 · 10 MIN</a:t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7708392" y="2395728"/>
            <a:ext cx="3950100" cy="3319200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 cap="flat" cmpd="sng" w="9525">
            <a:solidFill>
              <a:srgbClr val="E3E5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 txBox="1"/>
          <p:nvPr/>
        </p:nvSpPr>
        <p:spPr>
          <a:xfrm>
            <a:off x="7708392" y="3877056"/>
            <a:ext cx="3950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PHOTO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06-frame-kit-layout.jpg</a:t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548640" y="5351272"/>
            <a:ext cx="5577840" cy="820928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 txBox="1"/>
          <p:nvPr/>
        </p:nvSpPr>
        <p:spPr>
          <a:xfrm>
            <a:off x="731520" y="5488432"/>
            <a:ext cx="5212080" cy="546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CHECK  </a:t>
            </a: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everything on the kit sheet is present and sorted before a single screw is driven.</a:t>
            </a:r>
            <a:endParaRPr/>
          </a:p>
        </p:txBody>
      </p:sp>
      <p:sp>
        <p:nvSpPr>
          <p:cNvPr id="317" name="Google Shape;317;p8"/>
          <p:cNvSpPr txBox="1"/>
          <p:nvPr/>
        </p:nvSpPr>
        <p:spPr>
          <a:xfrm>
            <a:off x="548640" y="2395728"/>
            <a:ext cx="5577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/>
          </a:p>
        </p:txBody>
      </p:sp>
      <p:sp>
        <p:nvSpPr>
          <p:cNvPr id="318" name="Google Shape;318;p8"/>
          <p:cNvSpPr txBox="1"/>
          <p:nvPr/>
        </p:nvSpPr>
        <p:spPr>
          <a:xfrm>
            <a:off x="548640" y="2697480"/>
            <a:ext cx="55779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Lay out every Source One V6 plate, arm, standoff, and bag of hardware against the kit sheet.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Sort the hardware by length. The kit's </a:t>
            </a:r>
            <a:r>
              <a:rPr b="1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M3×10 / 12 / 14 screws are standoff hardware — they are not motor screws.</a:t>
            </a:r>
            <a:endParaRPr/>
          </a:p>
        </p:txBody>
      </p:sp>
      <p:sp>
        <p:nvSpPr>
          <p:cNvPr id="319" name="Google Shape;319;p8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WI-01 · Bench setup, frame assembly, motor mounting</a:t>
            </a:r>
            <a:endParaRPr/>
          </a:p>
        </p:txBody>
      </p:sp>
      <p:sp>
        <p:nvSpPr>
          <p:cNvPr id="320" name="Google Shape;320;p8"/>
          <p:cNvSpPr txBox="1"/>
          <p:nvPr/>
        </p:nvSpPr>
        <p:spPr>
          <a:xfrm>
            <a:off x="7498079" y="6355080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4 / 24</a:t>
            </a:r>
            <a:endParaRPr/>
          </a:p>
        </p:txBody>
      </p:sp>
      <p:sp>
        <p:nvSpPr>
          <p:cNvPr id="321" name="Google Shape;321;p8"/>
          <p:cNvSpPr txBox="1"/>
          <p:nvPr/>
        </p:nvSpPr>
        <p:spPr>
          <a:xfrm>
            <a:off x="548640" y="1600200"/>
            <a:ext cx="11109900" cy="567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TOOLS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Kit sheet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Source One V6 plates · arms · standoffs · M3×10/12/14 hardware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9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27" name="Google Shape;327;p9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Bottom plate, arms, standoffs</a:t>
            </a:r>
            <a:endParaRPr/>
          </a:p>
        </p:txBody>
      </p:sp>
      <p:sp>
        <p:nvSpPr>
          <p:cNvPr id="328" name="Google Shape;328;p9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30 · 30 MIN</a:t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7708392" y="2395728"/>
            <a:ext cx="3950100" cy="3319200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 cap="flat" cmpd="sng" w="9525">
            <a:solidFill>
              <a:srgbClr val="E3E5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07-frame-assembled.jpg" id="330" name="Google Shape;33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4776" y="2478024"/>
            <a:ext cx="2359152" cy="315468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/>
          <p:nvPr/>
        </p:nvSpPr>
        <p:spPr>
          <a:xfrm>
            <a:off x="548640" y="5351272"/>
            <a:ext cx="5577840" cy="820928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 txBox="1"/>
          <p:nvPr/>
        </p:nvSpPr>
        <p:spPr>
          <a:xfrm>
            <a:off x="731520" y="5488432"/>
            <a:ext cx="5212080" cy="546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CHECK  </a:t>
            </a: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every frame bolt has Loctite and is snug; no bolt bottomed out.</a:t>
            </a:r>
            <a:endParaRPr/>
          </a:p>
        </p:txBody>
      </p:sp>
      <p:sp>
        <p:nvSpPr>
          <p:cNvPr id="333" name="Google Shape;333;p9"/>
          <p:cNvSpPr txBox="1"/>
          <p:nvPr/>
        </p:nvSpPr>
        <p:spPr>
          <a:xfrm>
            <a:off x="548640" y="2395728"/>
            <a:ext cx="5577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/>
          </a:p>
        </p:txBody>
      </p:sp>
      <p:sp>
        <p:nvSpPr>
          <p:cNvPr id="334" name="Google Shape;334;p9"/>
          <p:cNvSpPr txBox="1"/>
          <p:nvPr/>
        </p:nvSpPr>
        <p:spPr>
          <a:xfrm>
            <a:off x="548640" y="2697480"/>
            <a:ext cx="5577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Bottom plate first, then the four arms, then the standoffs.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1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One drop of blue Loctite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on each frame bolt.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1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Snug, not gorilla-tight.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Carbon fibre crushes under an over-torqued bolt and there is no undoing it.</a:t>
            </a:r>
            <a:endParaRPr/>
          </a:p>
        </p:txBody>
      </p:sp>
      <p:sp>
        <p:nvSpPr>
          <p:cNvPr id="335" name="Google Shape;335;p9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WI-01 · Bench setup, frame assembly, motor mounting</a:t>
            </a:r>
            <a:endParaRPr/>
          </a:p>
        </p:txBody>
      </p:sp>
      <p:sp>
        <p:nvSpPr>
          <p:cNvPr id="336" name="Google Shape;336;p9"/>
          <p:cNvSpPr txBox="1"/>
          <p:nvPr/>
        </p:nvSpPr>
        <p:spPr>
          <a:xfrm>
            <a:off x="7498079" y="6355080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5 / 24</a:t>
            </a:r>
            <a:endParaRPr/>
          </a:p>
        </p:txBody>
      </p:sp>
      <p:sp>
        <p:nvSpPr>
          <p:cNvPr id="337" name="Google Shape;337;p9"/>
          <p:cNvSpPr txBox="1"/>
          <p:nvPr/>
        </p:nvSpPr>
        <p:spPr>
          <a:xfrm>
            <a:off x="548640" y="1600200"/>
            <a:ext cx="11109900" cy="567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TOOLS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Hex driver set · Loctite 243 (blue)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Bottom plate · 4 arms · standoffs · frame bolts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43" name="Google Shape;343;p10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Frame check: flat and square</a:t>
            </a:r>
            <a:endParaRPr/>
          </a:p>
        </p:txBody>
      </p:sp>
      <p:sp>
        <p:nvSpPr>
          <p:cNvPr id="344" name="Google Shape;344;p10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30 · 5 MIN</a:t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7708392" y="2395728"/>
            <a:ext cx="3950100" cy="3319200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 cap="flat" cmpd="sng" w="9525">
            <a:solidFill>
              <a:srgbClr val="E3E5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7708392" y="3877056"/>
            <a:ext cx="3950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PHOTO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08-frame-flat-check.jpg</a:t>
            </a: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548640" y="5087112"/>
            <a:ext cx="5577840" cy="1085088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 txBox="1"/>
          <p:nvPr/>
        </p:nvSpPr>
        <p:spPr>
          <a:xfrm>
            <a:off x="731520" y="5224272"/>
            <a:ext cx="5212080" cy="810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CHECK  </a:t>
            </a: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no rock on any arm. Stack holes line up on the </a:t>
            </a:r>
            <a:r>
              <a:rPr b="1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30 × 30 mm</a:t>
            </a: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pattern — the FC and ESC both mount to it.</a:t>
            </a:r>
            <a:endParaRPr/>
          </a:p>
        </p:txBody>
      </p:sp>
      <p:sp>
        <p:nvSpPr>
          <p:cNvPr id="349" name="Google Shape;349;p10"/>
          <p:cNvSpPr txBox="1"/>
          <p:nvPr/>
        </p:nvSpPr>
        <p:spPr>
          <a:xfrm>
            <a:off x="548640" y="2395728"/>
            <a:ext cx="5577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/>
          </a:p>
        </p:txBody>
      </p:sp>
      <p:sp>
        <p:nvSpPr>
          <p:cNvPr id="350" name="Google Shape;350;p10"/>
          <p:cNvSpPr txBox="1"/>
          <p:nvPr/>
        </p:nvSpPr>
        <p:spPr>
          <a:xfrm>
            <a:off x="548640" y="2697480"/>
            <a:ext cx="5577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Set the assembled frame on a flat surface and press each arm tip.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Sight down the stack holes.</a:t>
            </a:r>
            <a:endParaRPr/>
          </a:p>
        </p:txBody>
      </p:sp>
      <p:sp>
        <p:nvSpPr>
          <p:cNvPr id="351" name="Google Shape;351;p1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WI-01 · Bench setup, frame assembly, motor mounting</a:t>
            </a:r>
            <a:endParaRPr/>
          </a:p>
        </p:txBody>
      </p:sp>
      <p:sp>
        <p:nvSpPr>
          <p:cNvPr id="352" name="Google Shape;352;p10"/>
          <p:cNvSpPr txBox="1"/>
          <p:nvPr/>
        </p:nvSpPr>
        <p:spPr>
          <a:xfrm>
            <a:off x="7498079" y="6355080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6 / 24</a:t>
            </a:r>
            <a:endParaRPr/>
          </a:p>
        </p:txBody>
      </p:sp>
      <p:sp>
        <p:nvSpPr>
          <p:cNvPr id="353" name="Google Shape;353;p10"/>
          <p:cNvSpPr txBox="1"/>
          <p:nvPr/>
        </p:nvSpPr>
        <p:spPr>
          <a:xfrm>
            <a:off x="548640" y="1600200"/>
            <a:ext cx="11109900" cy="567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TOOLS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Flat reference surface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Assembled frame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59" name="Google Shape;359;p11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Motor screw length — do the math</a:t>
            </a:r>
            <a:endParaRPr/>
          </a:p>
        </p:txBody>
      </p:sp>
      <p:sp>
        <p:nvSpPr>
          <p:cNvPr id="360" name="Google Shape;360;p11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40 · 10 MIN</a:t>
            </a: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7708392" y="2395728"/>
            <a:ext cx="3950100" cy="3319200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 cap="flat" cmpd="sng" w="9525">
            <a:solidFill>
              <a:srgbClr val="E3E5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 txBox="1"/>
          <p:nvPr/>
        </p:nvSpPr>
        <p:spPr>
          <a:xfrm>
            <a:off x="7708392" y="1691640"/>
            <a:ext cx="3950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PHOTO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09-screw-length-measure.jpg</a:t>
            </a: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548640" y="5186172"/>
            <a:ext cx="5577840" cy="986028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 txBox="1"/>
          <p:nvPr/>
        </p:nvSpPr>
        <p:spPr>
          <a:xfrm>
            <a:off x="731520" y="5323332"/>
            <a:ext cx="5212080" cy="711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CHECK  </a:t>
            </a:r>
            <a:r>
              <a:rPr b="0" i="0" lang="en-US" sz="13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test-fit a screw through the arm into a motor by hand — the tip sits </a:t>
            </a:r>
            <a:r>
              <a:rPr b="1" i="0" lang="en-US" sz="13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at least 1 mm short</a:t>
            </a:r>
            <a:r>
              <a:rPr b="0" i="0" lang="en-US" sz="13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of the hole bottom.</a:t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548640" y="2331720"/>
            <a:ext cx="5577900" cy="986100"/>
          </a:xfrm>
          <a:prstGeom prst="roundRect">
            <a:avLst>
              <a:gd fmla="val 6000" name="adj"/>
            </a:avLst>
          </a:prstGeom>
          <a:solidFill>
            <a:srgbClr val="FDF3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 txBox="1"/>
          <p:nvPr/>
        </p:nvSpPr>
        <p:spPr>
          <a:xfrm>
            <a:off x="731520" y="2468880"/>
            <a:ext cx="5212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CAUTION  </a:t>
            </a:r>
            <a:r>
              <a:rPr b="1" i="0" lang="en-US" sz="13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Wrong screw length is the #1 motor killer. A screw that reaches the windings shorts the motor the first time it spins. </a:t>
            </a:r>
            <a:r>
              <a:rPr b="1"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Make SURE screw does not touch motor</a:t>
            </a:r>
            <a:endParaRPr/>
          </a:p>
        </p:txBody>
      </p:sp>
      <p:sp>
        <p:nvSpPr>
          <p:cNvPr id="367" name="Google Shape;367;p11"/>
          <p:cNvSpPr txBox="1"/>
          <p:nvPr/>
        </p:nvSpPr>
        <p:spPr>
          <a:xfrm>
            <a:off x="548640" y="3429000"/>
            <a:ext cx="557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/>
          </a:p>
        </p:txBody>
      </p:sp>
      <p:sp>
        <p:nvSpPr>
          <p:cNvPr id="368" name="Google Shape;368;p11"/>
          <p:cNvSpPr txBox="1"/>
          <p:nvPr/>
        </p:nvSpPr>
        <p:spPr>
          <a:xfrm>
            <a:off x="548640" y="3730752"/>
            <a:ext cx="55779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Measure arm thickness — calipers, or the edge of the multimeter case (~6 mm).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Measure the motor's blind-hole depth.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Target thread into the motor = </a:t>
            </a:r>
            <a:r>
              <a:rPr b="1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arm + ~5 mm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. Pick screws from the assortment to match.</a:t>
            </a:r>
            <a:endParaRPr/>
          </a:p>
        </p:txBody>
      </p:sp>
      <p:sp>
        <p:nvSpPr>
          <p:cNvPr id="369" name="Google Shape;369;p11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WI-01 · Bench setup, frame assembly, motor mounting</a:t>
            </a:r>
            <a:endParaRPr/>
          </a:p>
        </p:txBody>
      </p:sp>
      <p:sp>
        <p:nvSpPr>
          <p:cNvPr id="370" name="Google Shape;370;p11"/>
          <p:cNvSpPr txBox="1"/>
          <p:nvPr/>
        </p:nvSpPr>
        <p:spPr>
          <a:xfrm>
            <a:off x="7498079" y="6355080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7 / 24</a:t>
            </a:r>
            <a:endParaRPr/>
          </a:p>
        </p:txBody>
      </p:sp>
      <p:sp>
        <p:nvSpPr>
          <p:cNvPr id="371" name="Google Shape;371;p11"/>
          <p:cNvSpPr txBox="1"/>
          <p:nvPr/>
        </p:nvSpPr>
        <p:spPr>
          <a:xfrm>
            <a:off x="548640" y="1600200"/>
            <a:ext cx="11109900" cy="567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TOOLS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Calipers · ⚡ multimeter (case as gauge)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M3 screw assortment · arm · ⚡ motor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2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77" name="Google Shape;377;p1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Loctite: dab, dip, drive</a:t>
            </a:r>
            <a:endParaRPr/>
          </a:p>
        </p:txBody>
      </p:sp>
      <p:sp>
        <p:nvSpPr>
          <p:cNvPr id="378" name="Google Shape;378;p12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40 · 5 MIN</a:t>
            </a: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6729984" y="2395728"/>
            <a:ext cx="4928700" cy="3319200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 cap="flat" cmpd="sng" w="9525">
            <a:solidFill>
              <a:srgbClr val="E3E5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0a-loctite-dab-on-towel.jpg" id="380" name="Google Shape;38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2280" y="3035808"/>
            <a:ext cx="1536192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b-loctite-dip-screw.jpg" id="381" name="Google Shape;38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1624" y="3035808"/>
            <a:ext cx="1536192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c-loctite-on-screw.jpg" id="382" name="Google Shape;38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0112" y="3035808"/>
            <a:ext cx="1536192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2"/>
          <p:cNvSpPr/>
          <p:nvPr/>
        </p:nvSpPr>
        <p:spPr>
          <a:xfrm>
            <a:off x="548640" y="5417312"/>
            <a:ext cx="4297680" cy="754888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 txBox="1"/>
          <p:nvPr/>
        </p:nvSpPr>
        <p:spPr>
          <a:xfrm>
            <a:off x="731520" y="5554472"/>
            <a:ext cx="3931920" cy="480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CHECK  </a:t>
            </a:r>
            <a:r>
              <a:rPr b="0" i="0" lang="en-US" sz="13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blue on the threads only, none on the screw head or the carbon.</a:t>
            </a:r>
            <a:endParaRPr/>
          </a:p>
        </p:txBody>
      </p:sp>
      <p:sp>
        <p:nvSpPr>
          <p:cNvPr id="385" name="Google Shape;385;p12"/>
          <p:cNvSpPr txBox="1"/>
          <p:nvPr/>
        </p:nvSpPr>
        <p:spPr>
          <a:xfrm>
            <a:off x="548640" y="2395728"/>
            <a:ext cx="429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The bottle nozzle puts far too much on a screw this small. Dab, then dip.</a:t>
            </a:r>
            <a:endParaRPr/>
          </a:p>
        </p:txBody>
      </p:sp>
      <p:sp>
        <p:nvSpPr>
          <p:cNvPr id="386" name="Google Shape;386;p12"/>
          <p:cNvSpPr txBox="1"/>
          <p:nvPr/>
        </p:nvSpPr>
        <p:spPr>
          <a:xfrm>
            <a:off x="548640" y="3017520"/>
            <a:ext cx="4297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/>
          </a:p>
        </p:txBody>
      </p:sp>
      <p:sp>
        <p:nvSpPr>
          <p:cNvPr id="387" name="Google Shape;387;p12"/>
          <p:cNvSpPr txBox="1"/>
          <p:nvPr/>
        </p:nvSpPr>
        <p:spPr>
          <a:xfrm>
            <a:off x="548640" y="3291840"/>
            <a:ext cx="42978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Squeeze </a:t>
            </a:r>
            <a:r>
              <a:rPr b="1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one drop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of blue Loctite 243 onto a paper towel.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Touch each screw's threads into the drop — a thin film, not a coating.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Drive it within a minute or two, before it starts to set.</a:t>
            </a:r>
            <a:endParaRPr/>
          </a:p>
        </p:txBody>
      </p:sp>
      <p:sp>
        <p:nvSpPr>
          <p:cNvPr id="388" name="Google Shape;388;p12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WI-01 · Bench setup, frame assembly, motor mounting</a:t>
            </a:r>
            <a:endParaRPr/>
          </a:p>
        </p:txBody>
      </p:sp>
      <p:sp>
        <p:nvSpPr>
          <p:cNvPr id="389" name="Google Shape;389;p12"/>
          <p:cNvSpPr txBox="1"/>
          <p:nvPr/>
        </p:nvSpPr>
        <p:spPr>
          <a:xfrm>
            <a:off x="7498079" y="6355080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8 / 24</a:t>
            </a:r>
            <a:endParaRPr/>
          </a:p>
        </p:txBody>
      </p:sp>
      <p:sp>
        <p:nvSpPr>
          <p:cNvPr id="390" name="Google Shape;390;p12"/>
          <p:cNvSpPr txBox="1"/>
          <p:nvPr/>
        </p:nvSpPr>
        <p:spPr>
          <a:xfrm>
            <a:off x="548640" y="1600200"/>
            <a:ext cx="11109900" cy="567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TOOLS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Loctite 243 (blue) · paper towel · hex driver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M3 motor screws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3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96" name="Google Shape;396;p13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Seat the motor on the arm</a:t>
            </a:r>
            <a:endParaRPr/>
          </a:p>
        </p:txBody>
      </p:sp>
      <p:sp>
        <p:nvSpPr>
          <p:cNvPr id="397" name="Google Shape;397;p13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40 · 10 MIN</a:t>
            </a: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7708392" y="2395728"/>
            <a:ext cx="3950100" cy="3319200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 cap="flat" cmpd="sng" w="9525">
            <a:solidFill>
              <a:srgbClr val="E3E5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1-motor-seated-on-arm.jpg" id="399" name="Google Shape;3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4776" y="2478024"/>
            <a:ext cx="2359152" cy="315468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3"/>
          <p:cNvSpPr/>
          <p:nvPr/>
        </p:nvSpPr>
        <p:spPr>
          <a:xfrm>
            <a:off x="548640" y="5087112"/>
            <a:ext cx="5577840" cy="1085088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 txBox="1"/>
          <p:nvPr/>
        </p:nvSpPr>
        <p:spPr>
          <a:xfrm>
            <a:off x="731520" y="5224272"/>
            <a:ext cx="5212080" cy="810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CHECK  </a:t>
            </a: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motor base sits flush on the arm, all four holes visible through the arm, wires headed toward the stack.</a:t>
            </a:r>
            <a:endParaRPr/>
          </a:p>
        </p:txBody>
      </p:sp>
      <p:sp>
        <p:nvSpPr>
          <p:cNvPr id="402" name="Google Shape;402;p13"/>
          <p:cNvSpPr txBox="1"/>
          <p:nvPr/>
        </p:nvSpPr>
        <p:spPr>
          <a:xfrm>
            <a:off x="548640" y="2395728"/>
            <a:ext cx="5577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SAFETY GLASSES ON.</a:t>
            </a:r>
            <a:endParaRPr/>
          </a:p>
        </p:txBody>
      </p:sp>
      <p:sp>
        <p:nvSpPr>
          <p:cNvPr id="403" name="Google Shape;403;p13"/>
          <p:cNvSpPr txBox="1"/>
          <p:nvPr/>
        </p:nvSpPr>
        <p:spPr>
          <a:xfrm>
            <a:off x="548640" y="2697480"/>
            <a:ext cx="5577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/>
          </a:p>
        </p:txBody>
      </p:sp>
      <p:sp>
        <p:nvSpPr>
          <p:cNvPr id="404" name="Google Shape;404;p13"/>
          <p:cNvSpPr txBox="1"/>
          <p:nvPr/>
        </p:nvSpPr>
        <p:spPr>
          <a:xfrm>
            <a:off x="548640" y="2999232"/>
            <a:ext cx="5577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Set the motor on the arm end, bolt holes aligned with the arm's 16 × 16 mm pattern.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Wires pointing </a:t>
            </a:r>
            <a:r>
              <a:rPr b="1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inboard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, toward the centre of the frame.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Hold it flat while the first screw goes in.</a:t>
            </a:r>
            <a:endParaRPr/>
          </a:p>
        </p:txBody>
      </p:sp>
      <p:sp>
        <p:nvSpPr>
          <p:cNvPr id="405" name="Google Shape;405;p13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WI-01 · Bench setup, frame assembly, motor mounting</a:t>
            </a:r>
            <a:endParaRPr/>
          </a:p>
        </p:txBody>
      </p:sp>
      <p:sp>
        <p:nvSpPr>
          <p:cNvPr id="406" name="Google Shape;406;p13"/>
          <p:cNvSpPr txBox="1"/>
          <p:nvPr/>
        </p:nvSpPr>
        <p:spPr>
          <a:xfrm>
            <a:off x="7498079" y="6355080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9 / 24</a:t>
            </a:r>
            <a:endParaRPr/>
          </a:p>
        </p:txBody>
      </p:sp>
      <p:sp>
        <p:nvSpPr>
          <p:cNvPr id="407" name="Google Shape;407;p13"/>
          <p:cNvSpPr txBox="1"/>
          <p:nvPr/>
        </p:nvSpPr>
        <p:spPr>
          <a:xfrm>
            <a:off x="548640" y="1600200"/>
            <a:ext cx="11109900" cy="567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TOOLS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Safety glasses · hex driver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⚡ Motor · arm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4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413" name="Google Shape;413;p14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Drive the screws in a cross pattern</a:t>
            </a:r>
            <a:endParaRPr/>
          </a:p>
        </p:txBody>
      </p:sp>
      <p:sp>
        <p:nvSpPr>
          <p:cNvPr id="414" name="Google Shape;414;p14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40 · 20 MIN</a:t>
            </a:r>
            <a:endParaRPr/>
          </a:p>
        </p:txBody>
      </p:sp>
      <p:sp>
        <p:nvSpPr>
          <p:cNvPr id="415" name="Google Shape;415;p14"/>
          <p:cNvSpPr/>
          <p:nvPr/>
        </p:nvSpPr>
        <p:spPr>
          <a:xfrm>
            <a:off x="7708392" y="2395728"/>
            <a:ext cx="3950100" cy="3319200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 cap="flat" cmpd="sng" w="9525">
            <a:solidFill>
              <a:srgbClr val="E3E5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2-driving-motor-screws.jpg" id="416" name="Google Shape;41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4776" y="2478024"/>
            <a:ext cx="2359152" cy="315468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4"/>
          <p:cNvSpPr/>
          <p:nvPr/>
        </p:nvSpPr>
        <p:spPr>
          <a:xfrm>
            <a:off x="548640" y="5351272"/>
            <a:ext cx="5577840" cy="820928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4"/>
          <p:cNvSpPr txBox="1"/>
          <p:nvPr/>
        </p:nvSpPr>
        <p:spPr>
          <a:xfrm>
            <a:off x="731520" y="5488432"/>
            <a:ext cx="5212080" cy="546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CHECK  </a:t>
            </a: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all 16 screws in, all Loctited, no gap between motor base and arm on any motor.</a:t>
            </a:r>
            <a:endParaRPr/>
          </a:p>
        </p:txBody>
      </p:sp>
      <p:sp>
        <p:nvSpPr>
          <p:cNvPr id="419" name="Google Shape;419;p14"/>
          <p:cNvSpPr txBox="1"/>
          <p:nvPr/>
        </p:nvSpPr>
        <p:spPr>
          <a:xfrm>
            <a:off x="548640" y="2395728"/>
            <a:ext cx="5577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/>
          </a:p>
        </p:txBody>
      </p:sp>
      <p:sp>
        <p:nvSpPr>
          <p:cNvPr id="420" name="Google Shape;420;p14"/>
          <p:cNvSpPr txBox="1"/>
          <p:nvPr/>
        </p:nvSpPr>
        <p:spPr>
          <a:xfrm>
            <a:off x="548640" y="2697480"/>
            <a:ext cx="55779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Screws go up </a:t>
            </a:r>
            <a:r>
              <a:rPr b="1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through the arm, into the motor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— from underneath.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Drive them in a </a:t>
            </a:r>
            <a:r>
              <a:rPr b="1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cross pattern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— one corner, then the opposite corner, then the other pair — so the motor seats flat, not tilted.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Snug only. Same rule as the frame bolts.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4.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Repeat for all four motors.</a:t>
            </a:r>
            <a:endParaRPr/>
          </a:p>
        </p:txBody>
      </p:sp>
      <p:sp>
        <p:nvSpPr>
          <p:cNvPr id="421" name="Google Shape;421;p14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WI-01 · Bench setup, frame assembly, motor mounting</a:t>
            </a:r>
            <a:endParaRPr/>
          </a:p>
        </p:txBody>
      </p:sp>
      <p:sp>
        <p:nvSpPr>
          <p:cNvPr id="422" name="Google Shape;422;p14"/>
          <p:cNvSpPr txBox="1"/>
          <p:nvPr/>
        </p:nvSpPr>
        <p:spPr>
          <a:xfrm>
            <a:off x="7498079" y="6355080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10 / 24</a:t>
            </a:r>
            <a:endParaRPr/>
          </a:p>
        </p:txBody>
      </p:sp>
      <p:sp>
        <p:nvSpPr>
          <p:cNvPr id="423" name="Google Shape;423;p14"/>
          <p:cNvSpPr txBox="1"/>
          <p:nvPr/>
        </p:nvSpPr>
        <p:spPr>
          <a:xfrm>
            <a:off x="548640" y="1600200"/>
            <a:ext cx="11109900" cy="567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TOOLS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Hex driver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16 × M3 motor screws · ⚡ 4 motors · frame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5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429" name="Google Shape;429;p15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Motor check: free spin, wires untrimmed</a:t>
            </a:r>
            <a:endParaRPr/>
          </a:p>
        </p:txBody>
      </p:sp>
      <p:sp>
        <p:nvSpPr>
          <p:cNvPr id="430" name="Google Shape;430;p15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40 · 5 MIN</a:t>
            </a:r>
            <a:endParaRPr/>
          </a:p>
        </p:txBody>
      </p:sp>
      <p:sp>
        <p:nvSpPr>
          <p:cNvPr id="431" name="Google Shape;431;p15"/>
          <p:cNvSpPr/>
          <p:nvPr/>
        </p:nvSpPr>
        <p:spPr>
          <a:xfrm>
            <a:off x="6729984" y="2395728"/>
            <a:ext cx="4928700" cy="3319200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 cap="flat" cmpd="sng" w="9525">
            <a:solidFill>
              <a:srgbClr val="E3E5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3a-spin-check-left.jpg" id="432" name="Google Shape;43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2280" y="2496312"/>
            <a:ext cx="2350008" cy="31181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3b-spin-check-right.jpg" id="433" name="Google Shape;43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35440" y="2496312"/>
            <a:ext cx="2340864" cy="3118104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5"/>
          <p:cNvSpPr/>
          <p:nvPr/>
        </p:nvSpPr>
        <p:spPr>
          <a:xfrm>
            <a:off x="548640" y="4294632"/>
            <a:ext cx="4297680" cy="1877568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5"/>
          <p:cNvSpPr txBox="1"/>
          <p:nvPr/>
        </p:nvSpPr>
        <p:spPr>
          <a:xfrm>
            <a:off x="731520" y="4431792"/>
            <a:ext cx="3931920" cy="160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CHECK  </a:t>
            </a: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each motor spins freely both ways — no scraping, no wobble, no tick. A tick means a screw is touching the windings: </a:t>
            </a:r>
            <a:r>
              <a:rPr b="1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back it out now.</a:t>
            </a: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Do not trim motor wires yet;</a:t>
            </a: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final length depends on where the ESC sits.</a:t>
            </a:r>
            <a:endParaRPr/>
          </a:p>
        </p:txBody>
      </p:sp>
      <p:sp>
        <p:nvSpPr>
          <p:cNvPr id="436" name="Google Shape;436;p15"/>
          <p:cNvSpPr txBox="1"/>
          <p:nvPr/>
        </p:nvSpPr>
        <p:spPr>
          <a:xfrm>
            <a:off x="548640" y="2395728"/>
            <a:ext cx="4297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/>
          </a:p>
        </p:txBody>
      </p:sp>
      <p:sp>
        <p:nvSpPr>
          <p:cNvPr id="437" name="Google Shape;437;p15"/>
          <p:cNvSpPr txBox="1"/>
          <p:nvPr/>
        </p:nvSpPr>
        <p:spPr>
          <a:xfrm>
            <a:off x="548640" y="2697480"/>
            <a:ext cx="4297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Spin each motor bell by hand — both directions.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Leave every motor wire at full length.</a:t>
            </a:r>
            <a:endParaRPr/>
          </a:p>
        </p:txBody>
      </p:sp>
      <p:sp>
        <p:nvSpPr>
          <p:cNvPr id="438" name="Google Shape;438;p1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WI-01 · Bench setup, frame assembly, motor mounting</a:t>
            </a:r>
            <a:endParaRPr/>
          </a:p>
        </p:txBody>
      </p:sp>
      <p:sp>
        <p:nvSpPr>
          <p:cNvPr id="439" name="Google Shape;439;p15"/>
          <p:cNvSpPr txBox="1"/>
          <p:nvPr/>
        </p:nvSpPr>
        <p:spPr>
          <a:xfrm>
            <a:off x="7498079" y="6355080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11 / 24</a:t>
            </a:r>
            <a:endParaRPr/>
          </a:p>
        </p:txBody>
      </p:sp>
      <p:sp>
        <p:nvSpPr>
          <p:cNvPr id="440" name="Google Shape;440;p15"/>
          <p:cNvSpPr txBox="1"/>
          <p:nvPr/>
        </p:nvSpPr>
        <p:spPr>
          <a:xfrm>
            <a:off x="548640" y="1600200"/>
            <a:ext cx="11109900" cy="567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TOOLS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Hands only — no tools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⚡ 4 mounted motors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326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h2e1ae9e3d829f7f1_2_75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PROJECT ONE  ·  ROUTING  ·  WI-02</a:t>
            </a:r>
            <a:endParaRPr/>
          </a:p>
        </p:txBody>
      </p:sp>
      <p:sp>
        <p:nvSpPr>
          <p:cNvPr id="446" name="Google Shape;446;h2e1ae9e3d829f7f1_2_75"/>
          <p:cNvSpPr txBox="1"/>
          <p:nvPr/>
        </p:nvSpPr>
        <p:spPr>
          <a:xfrm>
            <a:off x="731520" y="1645920"/>
            <a:ext cx="105156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 soldering: motors, XT60, capacitor</a:t>
            </a:r>
            <a:endParaRPr/>
          </a:p>
        </p:txBody>
      </p:sp>
      <p:sp>
        <p:nvSpPr>
          <p:cNvPr id="447" name="Google Shape;447;h2e1ae9e3d829f7f1_2_75"/>
          <p:cNvSpPr txBox="1"/>
          <p:nvPr/>
        </p:nvSpPr>
        <p:spPr>
          <a:xfrm>
            <a:off x="731520" y="3657600"/>
            <a:ext cx="146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/>
          </a:p>
        </p:txBody>
      </p:sp>
      <p:sp>
        <p:nvSpPr>
          <p:cNvPr id="448" name="Google Shape;448;h2e1ae9e3d829f7f1_2_75"/>
          <p:cNvSpPr txBox="1"/>
          <p:nvPr/>
        </p:nvSpPr>
        <p:spPr>
          <a:xfrm>
            <a:off x="2286000" y="36576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6E8EA"/>
                </a:solidFill>
                <a:latin typeface="Calibri"/>
                <a:ea typeface="Calibri"/>
                <a:cs typeface="Calibri"/>
                <a:sym typeface="Calibri"/>
              </a:rPr>
              <a:t>In progress — started 2026-09-21</a:t>
            </a:r>
            <a:endParaRPr/>
          </a:p>
        </p:txBody>
      </p:sp>
      <p:sp>
        <p:nvSpPr>
          <p:cNvPr id="449" name="Google Shape;449;h2e1ae9e3d829f7f1_2_75"/>
          <p:cNvSpPr txBox="1"/>
          <p:nvPr/>
        </p:nvSpPr>
        <p:spPr>
          <a:xfrm>
            <a:off x="731520" y="4053332"/>
            <a:ext cx="146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NEEDS</a:t>
            </a:r>
            <a:endParaRPr/>
          </a:p>
        </p:txBody>
      </p:sp>
      <p:sp>
        <p:nvSpPr>
          <p:cNvPr id="450" name="Google Shape;450;h2e1ae9e3d829f7f1_2_75"/>
          <p:cNvSpPr txBox="1"/>
          <p:nvPr/>
        </p:nvSpPr>
        <p:spPr>
          <a:xfrm>
            <a:off x="2286000" y="4053332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6E8EA"/>
                </a:solidFill>
                <a:latin typeface="Calibri"/>
                <a:ea typeface="Calibri"/>
                <a:cs typeface="Calibri"/>
                <a:sym typeface="Calibri"/>
              </a:rPr>
              <a:t>WI-01 complete. Not the flight controller — it connects to the ESC by a plug-in cable, so none of these joints wait on it.</a:t>
            </a:r>
            <a:endParaRPr/>
          </a:p>
        </p:txBody>
      </p:sp>
      <p:sp>
        <p:nvSpPr>
          <p:cNvPr id="451" name="Google Shape;451;h2e1ae9e3d829f7f1_2_75"/>
          <p:cNvSpPr txBox="1"/>
          <p:nvPr/>
        </p:nvSpPr>
        <p:spPr>
          <a:xfrm>
            <a:off x="731520" y="4680204"/>
            <a:ext cx="146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BATTERY</a:t>
            </a:r>
            <a:endParaRPr/>
          </a:p>
        </p:txBody>
      </p:sp>
      <p:sp>
        <p:nvSpPr>
          <p:cNvPr id="452" name="Google Shape;452;h2e1ae9e3d829f7f1_2_75"/>
          <p:cNvSpPr txBox="1"/>
          <p:nvPr/>
        </p:nvSpPr>
        <p:spPr>
          <a:xfrm>
            <a:off x="2286000" y="4680204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6E8EA"/>
                </a:solidFill>
                <a:latin typeface="Calibri"/>
                <a:ea typeface="Calibri"/>
                <a:cs typeface="Calibri"/>
                <a:sym typeface="Calibri"/>
              </a:rPr>
              <a:t>None in this WI. First power-up is WI-03, through the smoke stopper, after the pinout check.</a:t>
            </a:r>
            <a:endParaRPr/>
          </a:p>
        </p:txBody>
      </p:sp>
      <p:sp>
        <p:nvSpPr>
          <p:cNvPr id="453" name="Google Shape;453;h2e1ae9e3d829f7f1_2_75"/>
          <p:cNvSpPr txBox="1"/>
          <p:nvPr/>
        </p:nvSpPr>
        <p:spPr>
          <a:xfrm>
            <a:off x="731520" y="5075936"/>
            <a:ext cx="146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sp>
        <p:nvSpPr>
          <p:cNvPr id="454" name="Google Shape;454;h2e1ae9e3d829f7f1_2_75"/>
          <p:cNvSpPr txBox="1"/>
          <p:nvPr/>
        </p:nvSpPr>
        <p:spPr>
          <a:xfrm>
            <a:off x="2286000" y="5075936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6E8EA"/>
                </a:solidFill>
                <a:latin typeface="Calibri"/>
                <a:ea typeface="Calibri"/>
                <a:cs typeface="Calibri"/>
                <a:sym typeface="Calibri"/>
              </a:rPr>
              <a:t>~2 h 30 min across three operations — 14 joints total</a:t>
            </a:r>
            <a:endParaRPr/>
          </a:p>
        </p:txBody>
      </p:sp>
      <p:sp>
        <p:nvSpPr>
          <p:cNvPr id="455" name="Google Shape;455;h2e1ae9e3d829f7f1_2_75"/>
          <p:cNvSpPr txBox="1"/>
          <p:nvPr/>
        </p:nvSpPr>
        <p:spPr>
          <a:xfrm>
            <a:off x="548640" y="635508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AA3A9"/>
                </a:solidFill>
                <a:latin typeface="Calibri"/>
                <a:ea typeface="Calibri"/>
                <a:cs typeface="Calibri"/>
                <a:sym typeface="Calibri"/>
              </a:rPr>
              <a:t>WI-02 · ESC soldering: motors, XT60, capacitor</a:t>
            </a:r>
            <a:endParaRPr/>
          </a:p>
        </p:txBody>
      </p:sp>
      <p:sp>
        <p:nvSpPr>
          <p:cNvPr id="456" name="Google Shape;456;h2e1ae9e3d829f7f1_2_75"/>
          <p:cNvSpPr txBox="1"/>
          <p:nvPr/>
        </p:nvSpPr>
        <p:spPr>
          <a:xfrm>
            <a:off x="7498079" y="635508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AA3A9"/>
                </a:solidFill>
                <a:latin typeface="Calibri"/>
                <a:ea typeface="Calibri"/>
                <a:cs typeface="Calibri"/>
                <a:sym typeface="Calibri"/>
              </a:rPr>
              <a:t>One slide per step · one photo · one check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h2e1ae9e3d829f7f1_2_128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462" name="Google Shape;462;h2e1ae9e3d829f7f1_2_128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Tools &amp; parts on the bench</a:t>
            </a:r>
            <a:endParaRPr/>
          </a:p>
        </p:txBody>
      </p:sp>
      <p:sp>
        <p:nvSpPr>
          <p:cNvPr id="463" name="Google Shape;463;h2e1ae9e3d829f7f1_2_128"/>
          <p:cNvSpPr/>
          <p:nvPr/>
        </p:nvSpPr>
        <p:spPr>
          <a:xfrm>
            <a:off x="6492240" y="1691640"/>
            <a:ext cx="5166360" cy="4343400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 cap="flat" cmpd="sng" w="9525">
            <a:solidFill>
              <a:srgbClr val="E3E5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h2e1ae9e3d829f7f1_2_128"/>
          <p:cNvSpPr txBox="1"/>
          <p:nvPr/>
        </p:nvSpPr>
        <p:spPr>
          <a:xfrm>
            <a:off x="6601968" y="1691640"/>
            <a:ext cx="4946904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PHOTO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01-tools-and-parts.jpg</a:t>
            </a:r>
            <a:endParaRPr/>
          </a:p>
        </p:txBody>
      </p:sp>
      <p:sp>
        <p:nvSpPr>
          <p:cNvPr id="465" name="Google Shape;465;h2e1ae9e3d829f7f1_2_128"/>
          <p:cNvSpPr/>
          <p:nvPr/>
        </p:nvSpPr>
        <p:spPr>
          <a:xfrm>
            <a:off x="548640" y="5417312"/>
            <a:ext cx="5577840" cy="754888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h2e1ae9e3d829f7f1_2_128"/>
          <p:cNvSpPr txBox="1"/>
          <p:nvPr/>
        </p:nvSpPr>
        <p:spPr>
          <a:xfrm>
            <a:off x="731520" y="5554472"/>
            <a:ext cx="5212080" cy="480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CHECK  </a:t>
            </a:r>
            <a:r>
              <a:rPr b="0" i="0" lang="en-US" sz="13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the battery is in its bag, somewhere else. It does not come to the bench today.</a:t>
            </a:r>
            <a:endParaRPr/>
          </a:p>
        </p:txBody>
      </p:sp>
      <p:sp>
        <p:nvSpPr>
          <p:cNvPr id="467" name="Google Shape;467;h2e1ae9e3d829f7f1_2_128"/>
          <p:cNvSpPr txBox="1"/>
          <p:nvPr/>
        </p:nvSpPr>
        <p:spPr>
          <a:xfrm>
            <a:off x="548640" y="1691640"/>
            <a:ext cx="5577840" cy="231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ON THE BENCH BEFORE STARTING</a:t>
            </a:r>
            <a:endParaRPr/>
          </a:p>
        </p:txBody>
      </p:sp>
      <p:sp>
        <p:nvSpPr>
          <p:cNvPr id="468" name="Google Shape;468;h2e1ae9e3d829f7f1_2_128"/>
          <p:cNvSpPr txBox="1"/>
          <p:nvPr/>
        </p:nvSpPr>
        <p:spPr>
          <a:xfrm>
            <a:off x="548640" y="1959356"/>
            <a:ext cx="55778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Iron with the </a:t>
            </a:r>
            <a:r>
              <a:rPr b="1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largest chisel tip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Solder (63/37), flux, wick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Side cutters, wire strippers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Heat shrink — sized for the motor wires and for the XT60 leads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Helping-hands station with magnifier (from Day 3 on)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ESC — Skystars KO60II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XT60 pigtail (or the one from the ESC box)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Capacitor — </a:t>
            </a:r>
            <a:r>
              <a:rPr b="1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read the can: 1000 µF 35 V.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The stripe side is negative. A 25 V cap blows on 6S.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Safety glasses</a:t>
            </a:r>
            <a:endParaRPr/>
          </a:p>
        </p:txBody>
      </p:sp>
      <p:sp>
        <p:nvSpPr>
          <p:cNvPr id="469" name="Google Shape;469;h2e1ae9e3d829f7f1_2_128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WI-02 · ESC soldering: motors, XT60, capacitor</a:t>
            </a:r>
            <a:endParaRPr/>
          </a:p>
        </p:txBody>
      </p:sp>
      <p:sp>
        <p:nvSpPr>
          <p:cNvPr id="470" name="Google Shape;470;h2e1ae9e3d829f7f1_2_128"/>
          <p:cNvSpPr txBox="1"/>
          <p:nvPr/>
        </p:nvSpPr>
        <p:spPr>
          <a:xfrm>
            <a:off x="7498079" y="6355080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14 / 24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h2e1ae9e3d829f7f1_2_14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476" name="Google Shape;476;h2e1ae9e3d829f7f1_2_141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Trim, strip, and tin the motor wires</a:t>
            </a:r>
            <a:endParaRPr/>
          </a:p>
        </p:txBody>
      </p:sp>
      <p:sp>
        <p:nvSpPr>
          <p:cNvPr id="477" name="Google Shape;477;h2e1ae9e3d829f7f1_2_141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10 · 20 MIN</a:t>
            </a:r>
            <a:endParaRPr/>
          </a:p>
        </p:txBody>
      </p:sp>
      <p:sp>
        <p:nvSpPr>
          <p:cNvPr id="478" name="Google Shape;478;h2e1ae9e3d829f7f1_2_141"/>
          <p:cNvSpPr/>
          <p:nvPr/>
        </p:nvSpPr>
        <p:spPr>
          <a:xfrm>
            <a:off x="7708392" y="2395728"/>
            <a:ext cx="3950100" cy="3319200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 cap="flat" cmpd="sng" w="9525">
            <a:solidFill>
              <a:srgbClr val="E3E5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h2e1ae9e3d829f7f1_2_141"/>
          <p:cNvSpPr/>
          <p:nvPr/>
        </p:nvSpPr>
        <p:spPr>
          <a:xfrm>
            <a:off x="548640" y="5351272"/>
            <a:ext cx="5577840" cy="820928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h2e1ae9e3d829f7f1_2_141"/>
          <p:cNvSpPr txBox="1"/>
          <p:nvPr/>
        </p:nvSpPr>
        <p:spPr>
          <a:xfrm>
            <a:off x="731520" y="5488432"/>
            <a:ext cx="5212080" cy="546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CHECK  </a:t>
            </a: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each tinned end is a smooth silver cylinder, not a blob, and no stray strands stick out.</a:t>
            </a:r>
            <a:endParaRPr/>
          </a:p>
        </p:txBody>
      </p:sp>
      <p:sp>
        <p:nvSpPr>
          <p:cNvPr id="482" name="Google Shape;482;h2e1ae9e3d829f7f1_2_141"/>
          <p:cNvSpPr txBox="1"/>
          <p:nvPr/>
        </p:nvSpPr>
        <p:spPr>
          <a:xfrm>
            <a:off x="548640" y="2395728"/>
            <a:ext cx="5577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DO — FOR ALL TWELVE MOTOR WIRES:</a:t>
            </a:r>
            <a:endParaRPr/>
          </a:p>
        </p:txBody>
      </p:sp>
      <p:sp>
        <p:nvSpPr>
          <p:cNvPr id="483" name="Google Shape;483;h2e1ae9e3d829f7f1_2_141"/>
          <p:cNvSpPr txBox="1"/>
          <p:nvPr/>
        </p:nvSpPr>
        <p:spPr>
          <a:xfrm>
            <a:off x="548640" y="2697480"/>
            <a:ext cx="5577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Dry-fit the ESC on the standoffs, pads to the rear. Route each motor's wires to its corner; cut with a little slack.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Strip </a:t>
            </a:r>
            <a:r>
              <a:rPr b="1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~2 mm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of insulation.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Flux the bare end and tin it — iron under, solder on top, until the strands wick full.</a:t>
            </a:r>
            <a:endParaRPr/>
          </a:p>
        </p:txBody>
      </p:sp>
      <p:sp>
        <p:nvSpPr>
          <p:cNvPr id="484" name="Google Shape;484;h2e1ae9e3d829f7f1_2_141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WI-02 · ESC soldering: motors, XT60, capacitor</a:t>
            </a:r>
            <a:endParaRPr/>
          </a:p>
        </p:txBody>
      </p:sp>
      <p:sp>
        <p:nvSpPr>
          <p:cNvPr id="485" name="Google Shape;485;h2e1ae9e3d829f7f1_2_141"/>
          <p:cNvSpPr txBox="1"/>
          <p:nvPr/>
        </p:nvSpPr>
        <p:spPr>
          <a:xfrm>
            <a:off x="7498079" y="6355080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15 / 24</a:t>
            </a:r>
            <a:endParaRPr/>
          </a:p>
        </p:txBody>
      </p:sp>
      <p:sp>
        <p:nvSpPr>
          <p:cNvPr id="486" name="Google Shape;486;h2e1ae9e3d829f7f1_2_141"/>
          <p:cNvSpPr txBox="1"/>
          <p:nvPr/>
        </p:nvSpPr>
        <p:spPr>
          <a:xfrm>
            <a:off x="548640" y="1600200"/>
            <a:ext cx="11109900" cy="567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TOOLS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⚡ Soldering station · flush cutters · wire strippers · flux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⚡ 12 motor wires · solder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7" name="Picture 486" descr="02-esc-staged-wires-rout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038" y="2505456"/>
            <a:ext cx="2324808" cy="30997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h2e1ae9e3d829f7f1_2_155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492" name="Google Shape;492;h2e1ae9e3d829f7f1_2_155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Tin the twelve ESC motor pads</a:t>
            </a:r>
            <a:endParaRPr/>
          </a:p>
        </p:txBody>
      </p:sp>
      <p:sp>
        <p:nvSpPr>
          <p:cNvPr id="493" name="Google Shape;493;h2e1ae9e3d829f7f1_2_155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10 · 15 MIN</a:t>
            </a:r>
            <a:endParaRPr/>
          </a:p>
        </p:txBody>
      </p:sp>
      <p:sp>
        <p:nvSpPr>
          <p:cNvPr id="494" name="Google Shape;494;h2e1ae9e3d829f7f1_2_155"/>
          <p:cNvSpPr/>
          <p:nvPr/>
        </p:nvSpPr>
        <p:spPr>
          <a:xfrm>
            <a:off x="7708392" y="2395728"/>
            <a:ext cx="3950100" cy="3319200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 cap="flat" cmpd="sng" w="9525">
            <a:solidFill>
              <a:srgbClr val="E3E5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03-flux-on-esc-pads.jpg" id="495" name="Google Shape;495;h2e1ae9e3d829f7f1_2_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4776" y="2478024"/>
            <a:ext cx="2359152" cy="315468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h2e1ae9e3d829f7f1_2_155"/>
          <p:cNvSpPr/>
          <p:nvPr/>
        </p:nvSpPr>
        <p:spPr>
          <a:xfrm>
            <a:off x="548640" y="5351272"/>
            <a:ext cx="5577840" cy="820928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h2e1ae9e3d829f7f1_2_155"/>
          <p:cNvSpPr txBox="1"/>
          <p:nvPr/>
        </p:nvSpPr>
        <p:spPr>
          <a:xfrm>
            <a:off x="731520" y="5488432"/>
            <a:ext cx="5212080" cy="546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CHECK  </a:t>
            </a: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twelve shiny domes, none touching a neighbor.</a:t>
            </a:r>
            <a:endParaRPr/>
          </a:p>
        </p:txBody>
      </p:sp>
      <p:sp>
        <p:nvSpPr>
          <p:cNvPr id="498" name="Google Shape;498;h2e1ae9e3d829f7f1_2_155"/>
          <p:cNvSpPr txBox="1"/>
          <p:nvPr/>
        </p:nvSpPr>
        <p:spPr>
          <a:xfrm>
            <a:off x="548640" y="2395728"/>
            <a:ext cx="5577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/>
          </a:p>
        </p:txBody>
      </p:sp>
      <p:sp>
        <p:nvSpPr>
          <p:cNvPr id="499" name="Google Shape;499;h2e1ae9e3d829f7f1_2_155"/>
          <p:cNvSpPr txBox="1"/>
          <p:nvPr/>
        </p:nvSpPr>
        <p:spPr>
          <a:xfrm>
            <a:off x="548640" y="2697480"/>
            <a:ext cx="5577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Flux every motor pad.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Iron at </a:t>
            </a:r>
            <a:r>
              <a:rPr b="1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350–370 °C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Put a small blob of solder on each pad — the pad should wet and the blob should sit domed, not spread.</a:t>
            </a:r>
            <a:endParaRPr/>
          </a:p>
        </p:txBody>
      </p:sp>
      <p:sp>
        <p:nvSpPr>
          <p:cNvPr id="500" name="Google Shape;500;h2e1ae9e3d829f7f1_2_155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WI-02 · ESC soldering: motors, XT60, capacitor</a:t>
            </a:r>
            <a:endParaRPr/>
          </a:p>
        </p:txBody>
      </p:sp>
      <p:sp>
        <p:nvSpPr>
          <p:cNvPr id="501" name="Google Shape;501;h2e1ae9e3d829f7f1_2_155"/>
          <p:cNvSpPr txBox="1"/>
          <p:nvPr/>
        </p:nvSpPr>
        <p:spPr>
          <a:xfrm>
            <a:off x="7498079" y="6355080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16 / 24</a:t>
            </a:r>
            <a:endParaRPr/>
          </a:p>
        </p:txBody>
      </p:sp>
      <p:sp>
        <p:nvSpPr>
          <p:cNvPr id="502" name="Google Shape;502;h2e1ae9e3d829f7f1_2_155"/>
          <p:cNvSpPr txBox="1"/>
          <p:nvPr/>
        </p:nvSpPr>
        <p:spPr>
          <a:xfrm>
            <a:off x="548640" y="1600200"/>
            <a:ext cx="11109900" cy="567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TOOLS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⚡ Soldering station (chisel tip) · flux pen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⚡ ESC motor pads · solder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h2e1ae9e3d829f7f1_2_169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508" name="Google Shape;508;h2e1ae9e3d829f7f1_2_169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Solder each motor wire to its pad</a:t>
            </a:r>
            <a:endParaRPr/>
          </a:p>
        </p:txBody>
      </p:sp>
      <p:sp>
        <p:nvSpPr>
          <p:cNvPr id="509" name="Google Shape;509;h2e1ae9e3d829f7f1_2_169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10 · 45 MIN</a:t>
            </a:r>
            <a:endParaRPr/>
          </a:p>
        </p:txBody>
      </p:sp>
      <p:sp>
        <p:nvSpPr>
          <p:cNvPr id="510" name="Google Shape;510;h2e1ae9e3d829f7f1_2_169"/>
          <p:cNvSpPr/>
          <p:nvPr/>
        </p:nvSpPr>
        <p:spPr>
          <a:xfrm>
            <a:off x="7708392" y="2395728"/>
            <a:ext cx="3950100" cy="3319200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 cap="flat" cmpd="sng" w="9525">
            <a:solidFill>
              <a:srgbClr val="E3E5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h2e1ae9e3d829f7f1_2_169"/>
          <p:cNvSpPr txBox="1"/>
          <p:nvPr/>
        </p:nvSpPr>
        <p:spPr>
          <a:xfrm>
            <a:off x="7708392" y="3877056"/>
            <a:ext cx="3950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PHOTO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04-solder-motor-wire.jpg</a:t>
            </a:r>
            <a:endParaRPr/>
          </a:p>
        </p:txBody>
      </p:sp>
      <p:sp>
        <p:nvSpPr>
          <p:cNvPr id="512" name="Google Shape;512;h2e1ae9e3d829f7f1_2_169"/>
          <p:cNvSpPr/>
          <p:nvPr/>
        </p:nvSpPr>
        <p:spPr>
          <a:xfrm>
            <a:off x="548640" y="5351272"/>
            <a:ext cx="5577840" cy="820928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h2e1ae9e3d829f7f1_2_169"/>
          <p:cNvSpPr txBox="1"/>
          <p:nvPr/>
        </p:nvSpPr>
        <p:spPr>
          <a:xfrm>
            <a:off x="731520" y="5488432"/>
            <a:ext cx="5212080" cy="546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CHECK  </a:t>
            </a: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the wire doesn't move when nudged, and the solder flowed onto both pad and wire.</a:t>
            </a:r>
            <a:endParaRPr/>
          </a:p>
        </p:txBody>
      </p:sp>
      <p:sp>
        <p:nvSpPr>
          <p:cNvPr id="514" name="Google Shape;514;h2e1ae9e3d829f7f1_2_169"/>
          <p:cNvSpPr txBox="1"/>
          <p:nvPr/>
        </p:nvSpPr>
        <p:spPr>
          <a:xfrm>
            <a:off x="548640" y="2395728"/>
            <a:ext cx="5577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DO — ONE JOINT AT A TIME, TWELVE TIMES:</a:t>
            </a:r>
            <a:endParaRPr/>
          </a:p>
        </p:txBody>
      </p:sp>
      <p:sp>
        <p:nvSpPr>
          <p:cNvPr id="515" name="Google Shape;515;h2e1ae9e3d829f7f1_2_169"/>
          <p:cNvSpPr txBox="1"/>
          <p:nvPr/>
        </p:nvSpPr>
        <p:spPr>
          <a:xfrm>
            <a:off x="548640" y="2697480"/>
            <a:ext cx="55779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Lay the tinned wire on its pad.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Iron on pad </a:t>
            </a:r>
            <a:r>
              <a:rPr b="1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wire together.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Feed a little solder into the joint.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4.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Hold still for </a:t>
            </a:r>
            <a:r>
              <a:rPr b="1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2 seconds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after the iron lifts — moving a cooling joint makes a cold one.</a:t>
            </a:r>
            <a:endParaRPr/>
          </a:p>
        </p:txBody>
      </p:sp>
      <p:sp>
        <p:nvSpPr>
          <p:cNvPr id="516" name="Google Shape;516;h2e1ae9e3d829f7f1_2_169"/>
          <p:cNvSpPr txBox="1"/>
          <p:nvPr/>
        </p:nvSpPr>
        <p:spPr>
          <a:xfrm>
            <a:off x="548640" y="4544568"/>
            <a:ext cx="557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Wire order within a corner doesn't matter — motor direction is fixed in software later.</a:t>
            </a:r>
            <a:endParaRPr/>
          </a:p>
        </p:txBody>
      </p:sp>
      <p:sp>
        <p:nvSpPr>
          <p:cNvPr id="517" name="Google Shape;517;h2e1ae9e3d829f7f1_2_169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WI-02 · ESC soldering: motors, XT60, capacitor</a:t>
            </a:r>
            <a:endParaRPr/>
          </a:p>
        </p:txBody>
      </p:sp>
      <p:sp>
        <p:nvSpPr>
          <p:cNvPr id="518" name="Google Shape;518;h2e1ae9e3d829f7f1_2_169"/>
          <p:cNvSpPr txBox="1"/>
          <p:nvPr/>
        </p:nvSpPr>
        <p:spPr>
          <a:xfrm>
            <a:off x="7498079" y="6355080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17 / 24</a:t>
            </a:r>
            <a:endParaRPr/>
          </a:p>
        </p:txBody>
      </p:sp>
      <p:sp>
        <p:nvSpPr>
          <p:cNvPr id="519" name="Google Shape;519;h2e1ae9e3d829f7f1_2_169"/>
          <p:cNvSpPr txBox="1"/>
          <p:nvPr/>
        </p:nvSpPr>
        <p:spPr>
          <a:xfrm>
            <a:off x="548640" y="1600200"/>
            <a:ext cx="11109900" cy="567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TOOLS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⚡ Soldering station · tweezers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⚡ 12 tinned motor wires · ⚡ ESC motor pads · solder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h2e1ae9e3d829f7f1_2_184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525" name="Google Shape;525;h2e1ae9e3d829f7f1_2_184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Inspect: cone, no bridge, tug test</a:t>
            </a:r>
            <a:endParaRPr/>
          </a:p>
        </p:txBody>
      </p:sp>
      <p:sp>
        <p:nvSpPr>
          <p:cNvPr id="526" name="Google Shape;526;h2e1ae9e3d829f7f1_2_184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10 · 10 MIN</a:t>
            </a:r>
            <a:endParaRPr/>
          </a:p>
        </p:txBody>
      </p:sp>
      <p:sp>
        <p:nvSpPr>
          <p:cNvPr id="527" name="Google Shape;527;h2e1ae9e3d829f7f1_2_184"/>
          <p:cNvSpPr/>
          <p:nvPr/>
        </p:nvSpPr>
        <p:spPr>
          <a:xfrm>
            <a:off x="7708392" y="2395728"/>
            <a:ext cx="3950100" cy="3319200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 cap="flat" cmpd="sng" w="9525">
            <a:solidFill>
              <a:srgbClr val="E3E5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h2e1ae9e3d829f7f1_2_184"/>
          <p:cNvSpPr txBox="1"/>
          <p:nvPr/>
        </p:nvSpPr>
        <p:spPr>
          <a:xfrm>
            <a:off x="7708392" y="3877056"/>
            <a:ext cx="3950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PHOTO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05-inspect-joints.jpg</a:t>
            </a:r>
            <a:endParaRPr/>
          </a:p>
        </p:txBody>
      </p:sp>
      <p:sp>
        <p:nvSpPr>
          <p:cNvPr id="529" name="Google Shape;529;h2e1ae9e3d829f7f1_2_184"/>
          <p:cNvSpPr/>
          <p:nvPr/>
        </p:nvSpPr>
        <p:spPr>
          <a:xfrm>
            <a:off x="548640" y="5087112"/>
            <a:ext cx="5577840" cy="1085088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h2e1ae9e3d829f7f1_2_184"/>
          <p:cNvSpPr txBox="1"/>
          <p:nvPr/>
        </p:nvSpPr>
        <p:spPr>
          <a:xfrm>
            <a:off x="731520" y="5224272"/>
            <a:ext cx="5212080" cy="810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CHECK  </a:t>
            </a: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twelve shiny cones, no dull balls, no bridges, no movement. Any joint that fails gets wicked and redone — not reheated and hoped for.</a:t>
            </a:r>
            <a:endParaRPr/>
          </a:p>
        </p:txBody>
      </p:sp>
      <p:sp>
        <p:nvSpPr>
          <p:cNvPr id="531" name="Google Shape;531;h2e1ae9e3d829f7f1_2_184"/>
          <p:cNvSpPr txBox="1"/>
          <p:nvPr/>
        </p:nvSpPr>
        <p:spPr>
          <a:xfrm>
            <a:off x="548640" y="2395728"/>
            <a:ext cx="5577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DO — UNDER THE MAGNIFIER, EVERY JOINT:</a:t>
            </a:r>
            <a:endParaRPr/>
          </a:p>
        </p:txBody>
      </p:sp>
      <p:sp>
        <p:nvSpPr>
          <p:cNvPr id="532" name="Google Shape;532;h2e1ae9e3d829f7f1_2_184"/>
          <p:cNvSpPr txBox="1"/>
          <p:nvPr/>
        </p:nvSpPr>
        <p:spPr>
          <a:xfrm>
            <a:off x="548640" y="2697480"/>
            <a:ext cx="5577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Look for a </a:t>
            </a:r>
            <a:r>
              <a:rPr b="1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shiny cone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climbing from pad to wire.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Look between neighbors for any bridge.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Tug each wire, gently.</a:t>
            </a:r>
            <a:endParaRPr/>
          </a:p>
        </p:txBody>
      </p:sp>
      <p:sp>
        <p:nvSpPr>
          <p:cNvPr id="533" name="Google Shape;533;h2e1ae9e3d829f7f1_2_184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WI-02 · ESC soldering: motors, XT60, capacitor</a:t>
            </a:r>
            <a:endParaRPr/>
          </a:p>
        </p:txBody>
      </p:sp>
      <p:sp>
        <p:nvSpPr>
          <p:cNvPr id="534" name="Google Shape;534;h2e1ae9e3d829f7f1_2_184"/>
          <p:cNvSpPr txBox="1"/>
          <p:nvPr/>
        </p:nvSpPr>
        <p:spPr>
          <a:xfrm>
            <a:off x="7498079" y="6355080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18 / 24</a:t>
            </a:r>
            <a:endParaRPr/>
          </a:p>
        </p:txBody>
      </p:sp>
      <p:sp>
        <p:nvSpPr>
          <p:cNvPr id="535" name="Google Shape;535;h2e1ae9e3d829f7f1_2_184"/>
          <p:cNvSpPr txBox="1"/>
          <p:nvPr/>
        </p:nvSpPr>
        <p:spPr>
          <a:xfrm>
            <a:off x="548640" y="1600200"/>
            <a:ext cx="11109900" cy="567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TOOLS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Magnifier · bright light · tweezers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⚡ 12 solder joints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h2e1ae9e3d829f7f1_2_198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sp>
        <p:nvSpPr>
          <p:cNvPr id="541" name="Google Shape;541;h2e1ae9e3d829f7f1_2_198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Heat shrink goes on first</a:t>
            </a:r>
            <a:endParaRPr/>
          </a:p>
        </p:txBody>
      </p:sp>
      <p:sp>
        <p:nvSpPr>
          <p:cNvPr id="542" name="Google Shape;542;h2e1ae9e3d829f7f1_2_198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20 · 2 MIN</a:t>
            </a:r>
            <a:endParaRPr/>
          </a:p>
        </p:txBody>
      </p:sp>
      <p:sp>
        <p:nvSpPr>
          <p:cNvPr id="543" name="Google Shape;543;h2e1ae9e3d829f7f1_2_198"/>
          <p:cNvSpPr/>
          <p:nvPr/>
        </p:nvSpPr>
        <p:spPr>
          <a:xfrm>
            <a:off x="7708392" y="2395728"/>
            <a:ext cx="3950100" cy="3319200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 cap="flat" cmpd="sng" w="9525">
            <a:solidFill>
              <a:srgbClr val="E3E5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h2e1ae9e3d829f7f1_2_198"/>
          <p:cNvSpPr txBox="1"/>
          <p:nvPr/>
        </p:nvSpPr>
        <p:spPr>
          <a:xfrm>
            <a:off x="7708392" y="3877056"/>
            <a:ext cx="3950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PHOTO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06-heat-shrink-on-leads.jpg</a:t>
            </a:r>
            <a:endParaRPr/>
          </a:p>
        </p:txBody>
      </p:sp>
      <p:sp>
        <p:nvSpPr>
          <p:cNvPr id="545" name="Google Shape;545;h2e1ae9e3d829f7f1_2_198"/>
          <p:cNvSpPr/>
          <p:nvPr/>
        </p:nvSpPr>
        <p:spPr>
          <a:xfrm>
            <a:off x="548640" y="5087112"/>
            <a:ext cx="5577840" cy="1085088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h2e1ae9e3d829f7f1_2_198"/>
          <p:cNvSpPr txBox="1"/>
          <p:nvPr/>
        </p:nvSpPr>
        <p:spPr>
          <a:xfrm>
            <a:off x="731520" y="5224272"/>
            <a:ext cx="5212080" cy="810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CHECK  </a:t>
            </a: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two pieces of shrink on the leads before the iron gets near them. It cannot go on after the joint is made.</a:t>
            </a:r>
            <a:endParaRPr/>
          </a:p>
        </p:txBody>
      </p:sp>
      <p:sp>
        <p:nvSpPr>
          <p:cNvPr id="547" name="Google Shape;547;h2e1ae9e3d829f7f1_2_198"/>
          <p:cNvSpPr txBox="1"/>
          <p:nvPr/>
        </p:nvSpPr>
        <p:spPr>
          <a:xfrm>
            <a:off x="548640" y="2395728"/>
            <a:ext cx="5577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/>
          </a:p>
        </p:txBody>
      </p:sp>
      <p:sp>
        <p:nvSpPr>
          <p:cNvPr id="548" name="Google Shape;548;h2e1ae9e3d829f7f1_2_198"/>
          <p:cNvSpPr txBox="1"/>
          <p:nvPr/>
        </p:nvSpPr>
        <p:spPr>
          <a:xfrm>
            <a:off x="548640" y="2697480"/>
            <a:ext cx="5577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Cut a length of heat shrink for each XT60 lead.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Slide both pieces onto the leads </a:t>
            </a:r>
            <a:r>
              <a:rPr b="1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, pushed well back from the ends.</a:t>
            </a:r>
            <a:endParaRPr/>
          </a:p>
        </p:txBody>
      </p:sp>
      <p:sp>
        <p:nvSpPr>
          <p:cNvPr id="549" name="Google Shape;549;h2e1ae9e3d829f7f1_2_198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WI-02 · ESC soldering: motors, XT60, capacitor</a:t>
            </a:r>
            <a:endParaRPr/>
          </a:p>
        </p:txBody>
      </p:sp>
      <p:sp>
        <p:nvSpPr>
          <p:cNvPr id="550" name="Google Shape;550;h2e1ae9e3d829f7f1_2_198"/>
          <p:cNvSpPr txBox="1"/>
          <p:nvPr/>
        </p:nvSpPr>
        <p:spPr>
          <a:xfrm>
            <a:off x="7498079" y="6355080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19 / 24</a:t>
            </a:r>
            <a:endParaRPr/>
          </a:p>
        </p:txBody>
      </p:sp>
      <p:sp>
        <p:nvSpPr>
          <p:cNvPr id="551" name="Google Shape;551;h2e1ae9e3d829f7f1_2_198"/>
          <p:cNvSpPr txBox="1"/>
          <p:nvPr/>
        </p:nvSpPr>
        <p:spPr>
          <a:xfrm>
            <a:off x="548640" y="1600200"/>
            <a:ext cx="11109900" cy="567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TOOLS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Flush cutters · ruler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Heat shrink tubing · ⚡ XT60 leads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h2e1ae9e3d829f7f1_2_212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557" name="Google Shape;557;h2e1ae9e3d829f7f1_2_21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XT60 to the battery pads</a:t>
            </a:r>
            <a:endParaRPr/>
          </a:p>
        </p:txBody>
      </p:sp>
      <p:sp>
        <p:nvSpPr>
          <p:cNvPr id="558" name="Google Shape;558;h2e1ae9e3d829f7f1_2_212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20 · 25 MIN</a:t>
            </a:r>
            <a:endParaRPr/>
          </a:p>
        </p:txBody>
      </p:sp>
      <p:sp>
        <p:nvSpPr>
          <p:cNvPr id="559" name="Google Shape;559;h2e1ae9e3d829f7f1_2_212"/>
          <p:cNvSpPr/>
          <p:nvPr/>
        </p:nvSpPr>
        <p:spPr>
          <a:xfrm>
            <a:off x="7708392" y="2395728"/>
            <a:ext cx="3950100" cy="3319200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 cap="flat" cmpd="sng" w="9525">
            <a:solidFill>
              <a:srgbClr val="E3E5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h2e1ae9e3d829f7f1_2_212"/>
          <p:cNvSpPr txBox="1"/>
          <p:nvPr/>
        </p:nvSpPr>
        <p:spPr>
          <a:xfrm>
            <a:off x="7708392" y="3877056"/>
            <a:ext cx="3950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PHOTO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07-xt60-battery-pads.jpg</a:t>
            </a:r>
            <a:endParaRPr/>
          </a:p>
        </p:txBody>
      </p:sp>
      <p:sp>
        <p:nvSpPr>
          <p:cNvPr id="561" name="Google Shape;561;h2e1ae9e3d829f7f1_2_212"/>
          <p:cNvSpPr/>
          <p:nvPr/>
        </p:nvSpPr>
        <p:spPr>
          <a:xfrm>
            <a:off x="548640" y="5417312"/>
            <a:ext cx="5577840" cy="754888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h2e1ae9e3d829f7f1_2_212"/>
          <p:cNvSpPr txBox="1"/>
          <p:nvPr/>
        </p:nvSpPr>
        <p:spPr>
          <a:xfrm>
            <a:off x="731520" y="5554472"/>
            <a:ext cx="5212080" cy="480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CHECK  </a:t>
            </a:r>
            <a:r>
              <a:rPr b="0" i="0" lang="en-US" sz="13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both leads solid, polarity confirmed against the ESC silkscreen a fourth time.</a:t>
            </a:r>
            <a:endParaRPr/>
          </a:p>
        </p:txBody>
      </p:sp>
      <p:sp>
        <p:nvSpPr>
          <p:cNvPr id="563" name="Google Shape;563;h2e1ae9e3d829f7f1_2_212"/>
          <p:cNvSpPr/>
          <p:nvPr/>
        </p:nvSpPr>
        <p:spPr>
          <a:xfrm>
            <a:off x="548640" y="2331720"/>
            <a:ext cx="5577900" cy="1217100"/>
          </a:xfrm>
          <a:prstGeom prst="roundRect">
            <a:avLst>
              <a:gd fmla="val 6000" name="adj"/>
            </a:avLst>
          </a:prstGeom>
          <a:solidFill>
            <a:srgbClr val="FDF3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h2e1ae9e3d829f7f1_2_212"/>
          <p:cNvSpPr txBox="1"/>
          <p:nvPr/>
        </p:nvSpPr>
        <p:spPr>
          <a:xfrm>
            <a:off x="731520" y="2468880"/>
            <a:ext cx="5212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CAUTION  </a:t>
            </a:r>
            <a:r>
              <a:rPr b="1" i="0" lang="en-US" sz="13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These are the two big joints. Max temperature (480 °C), largest tip, patience. Let the pad fully wet before feeding solder — 75 W needs a few extra seconds, not force.</a:t>
            </a:r>
            <a:endParaRPr/>
          </a:p>
        </p:txBody>
      </p:sp>
      <p:sp>
        <p:nvSpPr>
          <p:cNvPr id="565" name="Google Shape;565;h2e1ae9e3d829f7f1_2_212"/>
          <p:cNvSpPr txBox="1"/>
          <p:nvPr/>
        </p:nvSpPr>
        <p:spPr>
          <a:xfrm>
            <a:off x="548640" y="3712464"/>
            <a:ext cx="557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/>
          </a:p>
        </p:txBody>
      </p:sp>
      <p:sp>
        <p:nvSpPr>
          <p:cNvPr id="566" name="Google Shape;566;h2e1ae9e3d829f7f1_2_212"/>
          <p:cNvSpPr txBox="1"/>
          <p:nvPr/>
        </p:nvSpPr>
        <p:spPr>
          <a:xfrm>
            <a:off x="548640" y="3977640"/>
            <a:ext cx="55779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Tin the two big pads generously.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1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Red → +, black → −.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Triple-check before the iron touches. Reversed polarity destroys the ESC instantly.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Tinned lead on tinned pad, iron on both, feed solder until it flows through, hold still to cool.</a:t>
            </a:r>
            <a:endParaRPr/>
          </a:p>
        </p:txBody>
      </p:sp>
      <p:sp>
        <p:nvSpPr>
          <p:cNvPr id="567" name="Google Shape;567;h2e1ae9e3d829f7f1_2_212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WI-02 · ESC soldering: motors, XT60, capacitor</a:t>
            </a:r>
            <a:endParaRPr/>
          </a:p>
        </p:txBody>
      </p:sp>
      <p:sp>
        <p:nvSpPr>
          <p:cNvPr id="568" name="Google Shape;568;h2e1ae9e3d829f7f1_2_212"/>
          <p:cNvSpPr txBox="1"/>
          <p:nvPr/>
        </p:nvSpPr>
        <p:spPr>
          <a:xfrm>
            <a:off x="7498079" y="6355080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20 / 24</a:t>
            </a:r>
            <a:endParaRPr/>
          </a:p>
        </p:txBody>
      </p:sp>
      <p:sp>
        <p:nvSpPr>
          <p:cNvPr id="569" name="Google Shape;569;h2e1ae9e3d829f7f1_2_212"/>
          <p:cNvSpPr txBox="1"/>
          <p:nvPr/>
        </p:nvSpPr>
        <p:spPr>
          <a:xfrm>
            <a:off x="548640" y="1600200"/>
            <a:ext cx="11109900" cy="567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TOOLS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⚡ Soldering station (480 °C, largest tip) · flux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⚡ XT60 pigtail · ⚡ ESC battery pads · solder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h2e1ae9e3d829f7f1_2_228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575" name="Google Shape;575;h2e1ae9e3d829f7f1_2_228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Capacitor across the battery pads</a:t>
            </a:r>
            <a:endParaRPr/>
          </a:p>
        </p:txBody>
      </p:sp>
      <p:sp>
        <p:nvSpPr>
          <p:cNvPr id="576" name="Google Shape;576;h2e1ae9e3d829f7f1_2_228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20 · 15 MIN</a:t>
            </a:r>
            <a:endParaRPr/>
          </a:p>
        </p:txBody>
      </p:sp>
      <p:sp>
        <p:nvSpPr>
          <p:cNvPr id="577" name="Google Shape;577;h2e1ae9e3d829f7f1_2_228"/>
          <p:cNvSpPr/>
          <p:nvPr/>
        </p:nvSpPr>
        <p:spPr>
          <a:xfrm>
            <a:off x="7708392" y="2395728"/>
            <a:ext cx="3950100" cy="3319200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 cap="flat" cmpd="sng" w="9525">
            <a:solidFill>
              <a:srgbClr val="E3E5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h2e1ae9e3d829f7f1_2_228"/>
          <p:cNvSpPr txBox="1"/>
          <p:nvPr/>
        </p:nvSpPr>
        <p:spPr>
          <a:xfrm>
            <a:off x="7708392" y="3877056"/>
            <a:ext cx="3950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PHOTO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08-capacitor.jpg</a:t>
            </a:r>
            <a:endParaRPr/>
          </a:p>
        </p:txBody>
      </p:sp>
      <p:sp>
        <p:nvSpPr>
          <p:cNvPr id="579" name="Google Shape;579;h2e1ae9e3d829f7f1_2_228"/>
          <p:cNvSpPr/>
          <p:nvPr/>
        </p:nvSpPr>
        <p:spPr>
          <a:xfrm>
            <a:off x="548640" y="5351272"/>
            <a:ext cx="5577840" cy="820928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h2e1ae9e3d829f7f1_2_228"/>
          <p:cNvSpPr txBox="1"/>
          <p:nvPr/>
        </p:nvSpPr>
        <p:spPr>
          <a:xfrm>
            <a:off x="731520" y="5488432"/>
            <a:ext cx="5212080" cy="546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CHECK  </a:t>
            </a: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1000 µF 35 V, stripe on the − pad, legs not touching anything else.</a:t>
            </a:r>
            <a:endParaRPr/>
          </a:p>
        </p:txBody>
      </p:sp>
      <p:sp>
        <p:nvSpPr>
          <p:cNvPr id="581" name="Google Shape;581;h2e1ae9e3d829f7f1_2_228"/>
          <p:cNvSpPr txBox="1"/>
          <p:nvPr/>
        </p:nvSpPr>
        <p:spPr>
          <a:xfrm>
            <a:off x="548640" y="2395728"/>
            <a:ext cx="5577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/>
          </a:p>
        </p:txBody>
      </p:sp>
      <p:sp>
        <p:nvSpPr>
          <p:cNvPr id="582" name="Google Shape;582;h2e1ae9e3d829f7f1_2_228"/>
          <p:cNvSpPr txBox="1"/>
          <p:nvPr/>
        </p:nvSpPr>
        <p:spPr>
          <a:xfrm>
            <a:off x="548640" y="2697480"/>
            <a:ext cx="5577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Trim the capacitor legs short — it sits close to the board.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1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Stripe to −.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The stripe on the can marks the negative leg.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Solder each leg to the same battery pads as the XT60.</a:t>
            </a:r>
            <a:endParaRPr/>
          </a:p>
        </p:txBody>
      </p:sp>
      <p:sp>
        <p:nvSpPr>
          <p:cNvPr id="583" name="Google Shape;583;h2e1ae9e3d829f7f1_2_228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WI-02 · ESC soldering: motors, XT60, capacitor</a:t>
            </a:r>
            <a:endParaRPr/>
          </a:p>
        </p:txBody>
      </p:sp>
      <p:sp>
        <p:nvSpPr>
          <p:cNvPr id="584" name="Google Shape;584;h2e1ae9e3d829f7f1_2_228"/>
          <p:cNvSpPr txBox="1"/>
          <p:nvPr/>
        </p:nvSpPr>
        <p:spPr>
          <a:xfrm>
            <a:off x="7498079" y="6355080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21 / 24</a:t>
            </a:r>
            <a:endParaRPr/>
          </a:p>
        </p:txBody>
      </p:sp>
      <p:sp>
        <p:nvSpPr>
          <p:cNvPr id="585" name="Google Shape;585;h2e1ae9e3d829f7f1_2_228"/>
          <p:cNvSpPr txBox="1"/>
          <p:nvPr/>
        </p:nvSpPr>
        <p:spPr>
          <a:xfrm>
            <a:off x="548640" y="1600200"/>
            <a:ext cx="11109900" cy="567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TOOLS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⚡ Soldering station · flush cutters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⚡ 1000 µF 35 V capacitor · ⚡ ESC battery pads · solder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h2e1ae9e3d829f7f1_2_242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591" name="Google Shape;591;h2e1ae9e3d829f7f1_2_24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Shrink everything, no exposed copper</a:t>
            </a:r>
            <a:endParaRPr/>
          </a:p>
        </p:txBody>
      </p:sp>
      <p:sp>
        <p:nvSpPr>
          <p:cNvPr id="592" name="Google Shape;592;h2e1ae9e3d829f7f1_2_242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20 · 5 MIN</a:t>
            </a:r>
            <a:endParaRPr/>
          </a:p>
        </p:txBody>
      </p:sp>
      <p:sp>
        <p:nvSpPr>
          <p:cNvPr id="593" name="Google Shape;593;h2e1ae9e3d829f7f1_2_242"/>
          <p:cNvSpPr/>
          <p:nvPr/>
        </p:nvSpPr>
        <p:spPr>
          <a:xfrm>
            <a:off x="7708392" y="2395728"/>
            <a:ext cx="3950100" cy="3319200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 cap="flat" cmpd="sng" w="9525">
            <a:solidFill>
              <a:srgbClr val="E3E5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h2e1ae9e3d829f7f1_2_242"/>
          <p:cNvSpPr txBox="1"/>
          <p:nvPr/>
        </p:nvSpPr>
        <p:spPr>
          <a:xfrm>
            <a:off x="7708392" y="3877056"/>
            <a:ext cx="3950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PHOTO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09-shrink-done.jpg</a:t>
            </a:r>
            <a:endParaRPr/>
          </a:p>
        </p:txBody>
      </p:sp>
      <p:sp>
        <p:nvSpPr>
          <p:cNvPr id="595" name="Google Shape;595;h2e1ae9e3d829f7f1_2_242"/>
          <p:cNvSpPr/>
          <p:nvPr/>
        </p:nvSpPr>
        <p:spPr>
          <a:xfrm>
            <a:off x="548640" y="5351272"/>
            <a:ext cx="5577840" cy="820928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h2e1ae9e3d829f7f1_2_242"/>
          <p:cNvSpPr txBox="1"/>
          <p:nvPr/>
        </p:nvSpPr>
        <p:spPr>
          <a:xfrm>
            <a:off x="731520" y="5488432"/>
            <a:ext cx="5212080" cy="546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CHECK  </a:t>
            </a:r>
            <a:r>
              <a:rPr b="0" i="0" lang="en-US" sz="15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no exposed copper anywhere on the battery side of the ESC.</a:t>
            </a:r>
            <a:endParaRPr/>
          </a:p>
        </p:txBody>
      </p:sp>
      <p:sp>
        <p:nvSpPr>
          <p:cNvPr id="597" name="Google Shape;597;h2e1ae9e3d829f7f1_2_242"/>
          <p:cNvSpPr txBox="1"/>
          <p:nvPr/>
        </p:nvSpPr>
        <p:spPr>
          <a:xfrm>
            <a:off x="548640" y="2395728"/>
            <a:ext cx="5577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/>
          </a:p>
        </p:txBody>
      </p:sp>
      <p:sp>
        <p:nvSpPr>
          <p:cNvPr id="598" name="Google Shape;598;h2e1ae9e3d829f7f1_2_242"/>
          <p:cNvSpPr txBox="1"/>
          <p:nvPr/>
        </p:nvSpPr>
        <p:spPr>
          <a:xfrm>
            <a:off x="548640" y="2697480"/>
            <a:ext cx="5577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Slide the shrink from slide 6 down over the XT60 joints.</a:t>
            </a:r>
            <a:endParaRPr/>
          </a:p>
          <a:p>
            <a:pPr indent="0" lvl="0" marL="0" marR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6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Shrink it — iron barrel held near, rotate; or the lower half of a lighter flame, kept moving.</a:t>
            </a:r>
            <a:endParaRPr/>
          </a:p>
        </p:txBody>
      </p:sp>
      <p:sp>
        <p:nvSpPr>
          <p:cNvPr id="599" name="Google Shape;599;h2e1ae9e3d829f7f1_2_242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WI-02 · ESC soldering: motors, XT60, capacitor</a:t>
            </a:r>
            <a:endParaRPr/>
          </a:p>
        </p:txBody>
      </p:sp>
      <p:sp>
        <p:nvSpPr>
          <p:cNvPr id="600" name="Google Shape;600;h2e1ae9e3d829f7f1_2_242"/>
          <p:cNvSpPr txBox="1"/>
          <p:nvPr/>
        </p:nvSpPr>
        <p:spPr>
          <a:xfrm>
            <a:off x="7498079" y="6355080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22 / 24</a:t>
            </a:r>
            <a:endParaRPr/>
          </a:p>
        </p:txBody>
      </p:sp>
      <p:sp>
        <p:nvSpPr>
          <p:cNvPr id="601" name="Google Shape;601;h2e1ae9e3d829f7f1_2_242"/>
          <p:cNvSpPr txBox="1"/>
          <p:nvPr/>
        </p:nvSpPr>
        <p:spPr>
          <a:xfrm>
            <a:off x="548640" y="1600200"/>
            <a:ext cx="11109900" cy="567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TOOLS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⚡ Soldering iron barrel (or lighter)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Heat shrink tubing · ⚡ XT60 joints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h2e1ae9e3d829f7f1_2_256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/>
          </a:p>
        </p:txBody>
      </p:sp>
      <p:sp>
        <p:nvSpPr>
          <p:cNvPr id="607" name="Google Shape;607;h2e1ae9e3d829f7f1_2_256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Continuity audit</a:t>
            </a:r>
            <a:endParaRPr/>
          </a:p>
        </p:txBody>
      </p:sp>
      <p:sp>
        <p:nvSpPr>
          <p:cNvPr id="608" name="Google Shape;608;h2e1ae9e3d829f7f1_2_256"/>
          <p:cNvSpPr txBox="1"/>
          <p:nvPr/>
        </p:nvSpPr>
        <p:spPr>
          <a:xfrm>
            <a:off x="1325880" y="1188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OP 30 · 20 MIN</a:t>
            </a:r>
            <a:endParaRPr/>
          </a:p>
        </p:txBody>
      </p:sp>
      <p:sp>
        <p:nvSpPr>
          <p:cNvPr id="609" name="Google Shape;609;h2e1ae9e3d829f7f1_2_256"/>
          <p:cNvSpPr/>
          <p:nvPr/>
        </p:nvSpPr>
        <p:spPr>
          <a:xfrm>
            <a:off x="7708392" y="2395728"/>
            <a:ext cx="3950100" cy="3319200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 cap="flat" cmpd="sng" w="9525">
            <a:solidFill>
              <a:srgbClr val="E3E5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h2e1ae9e3d829f7f1_2_256"/>
          <p:cNvSpPr txBox="1"/>
          <p:nvPr/>
        </p:nvSpPr>
        <p:spPr>
          <a:xfrm>
            <a:off x="7708392" y="3877056"/>
            <a:ext cx="3950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PHOTO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10-continuity-audit.jpg</a:t>
            </a:r>
            <a:endParaRPr/>
          </a:p>
        </p:txBody>
      </p:sp>
      <p:sp>
        <p:nvSpPr>
          <p:cNvPr id="611" name="Google Shape;611;h2e1ae9e3d829f7f1_2_256"/>
          <p:cNvSpPr/>
          <p:nvPr/>
        </p:nvSpPr>
        <p:spPr>
          <a:xfrm>
            <a:off x="548640" y="4261612"/>
            <a:ext cx="5577840" cy="1910588"/>
          </a:xfrm>
          <a:prstGeom prst="roundRect">
            <a:avLst>
              <a:gd fmla="val 6000" name="adj"/>
            </a:avLst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h2e1ae9e3d829f7f1_2_256"/>
          <p:cNvSpPr txBox="1"/>
          <p:nvPr/>
        </p:nvSpPr>
        <p:spPr>
          <a:xfrm>
            <a:off x="731520" y="4398772"/>
            <a:ext cx="5212080" cy="1636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✓  + to − reads </a:t>
            </a:r>
            <a:r>
              <a:rPr b="1" i="0" lang="en-US" sz="13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OPEN</a:t>
            </a:r>
            <a:r>
              <a:rPr b="0" i="0" lang="en-US" sz="13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. A brief blip while the capacitor charges is fine; a solid beep is a short — </a:t>
            </a:r>
            <a:r>
              <a:rPr b="1" i="0" lang="en-US" sz="13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stop and find it.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✓  Every motor wire beeps to its own pad only.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✓  Neither battery pad beeps to any motor pad or to the frame (intended grounds excepted).</a:t>
            </a:r>
            <a:endParaRPr/>
          </a:p>
        </p:txBody>
      </p:sp>
      <p:sp>
        <p:nvSpPr>
          <p:cNvPr id="613" name="Google Shape;613;h2e1ae9e3d829f7f1_2_256"/>
          <p:cNvSpPr/>
          <p:nvPr/>
        </p:nvSpPr>
        <p:spPr>
          <a:xfrm>
            <a:off x="548640" y="2240280"/>
            <a:ext cx="5577900" cy="754800"/>
          </a:xfrm>
          <a:prstGeom prst="roundRect">
            <a:avLst>
              <a:gd fmla="val 6000" name="adj"/>
            </a:avLst>
          </a:prstGeom>
          <a:solidFill>
            <a:srgbClr val="FDF3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h2e1ae9e3d829f7f1_2_256"/>
          <p:cNvSpPr txBox="1"/>
          <p:nvPr/>
        </p:nvSpPr>
        <p:spPr>
          <a:xfrm>
            <a:off x="731520" y="2377440"/>
            <a:ext cx="5212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CAUTION  </a:t>
            </a:r>
            <a:r>
              <a:rPr b="1" i="0" lang="en-US" sz="13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Multimeter on continuity. No battery anywhere near the bench.</a:t>
            </a:r>
            <a:endParaRPr/>
          </a:p>
        </p:txBody>
      </p:sp>
      <p:sp>
        <p:nvSpPr>
          <p:cNvPr id="615" name="Google Shape;615;h2e1ae9e3d829f7f1_2_256"/>
          <p:cNvSpPr txBox="1"/>
          <p:nvPr/>
        </p:nvSpPr>
        <p:spPr>
          <a:xfrm>
            <a:off x="548640" y="3163824"/>
            <a:ext cx="557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/>
          </a:p>
        </p:txBody>
      </p:sp>
      <p:sp>
        <p:nvSpPr>
          <p:cNvPr id="616" name="Google Shape;616;h2e1ae9e3d829f7f1_2_256"/>
          <p:cNvSpPr txBox="1"/>
          <p:nvPr/>
        </p:nvSpPr>
        <p:spPr>
          <a:xfrm>
            <a:off x="548640" y="3429000"/>
            <a:ext cx="55779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XT60 </a:t>
            </a:r>
            <a:r>
              <a:rPr b="1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+ to −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Each motor wire to </a:t>
            </a:r>
            <a:r>
              <a:rPr b="1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its own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pad, then to each </a:t>
            </a:r>
            <a:r>
              <a:rPr b="1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neighbor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pad.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1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+ pad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to every motor pad and to the frame; </a:t>
            </a:r>
            <a:r>
              <a:rPr b="1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− pad</a:t>
            </a:r>
            <a:r>
              <a:rPr b="0" i="0" lang="en-US" sz="1400" u="none" cap="none" strike="noStrike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likewise.</a:t>
            </a:r>
            <a:endParaRPr/>
          </a:p>
        </p:txBody>
      </p:sp>
      <p:sp>
        <p:nvSpPr>
          <p:cNvPr id="617" name="Google Shape;617;h2e1ae9e3d829f7f1_2_256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WI-02 · ESC soldering: motors, XT60, capacitor</a:t>
            </a:r>
            <a:endParaRPr/>
          </a:p>
        </p:txBody>
      </p:sp>
      <p:sp>
        <p:nvSpPr>
          <p:cNvPr id="618" name="Google Shape;618;h2e1ae9e3d829f7f1_2_256"/>
          <p:cNvSpPr txBox="1"/>
          <p:nvPr/>
        </p:nvSpPr>
        <p:spPr>
          <a:xfrm>
            <a:off x="7498079" y="6355080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23 / 24</a:t>
            </a:r>
            <a:endParaRPr/>
          </a:p>
        </p:txBody>
      </p:sp>
      <p:sp>
        <p:nvSpPr>
          <p:cNvPr id="619" name="Google Shape;619;h2e1ae9e3d829f7f1_2_256"/>
          <p:cNvSpPr txBox="1"/>
          <p:nvPr/>
        </p:nvSpPr>
        <p:spPr>
          <a:xfrm>
            <a:off x="548640" y="1600200"/>
            <a:ext cx="11109900" cy="567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TOOLS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⚡ Multimeter (continuity mode)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PARTS </a:t>
            </a:r>
            <a:r>
              <a:rPr lang="en-US" sz="1300">
                <a:solidFill>
                  <a:srgbClr val="2B3034"/>
                </a:solidFill>
                <a:latin typeface="Calibri"/>
                <a:ea typeface="Calibri"/>
                <a:cs typeface="Calibri"/>
                <a:sym typeface="Calibri"/>
              </a:rPr>
              <a:t>  ⚡ Soldered ESC · ⚡ XT60 leads</a:t>
            </a:r>
            <a:endParaRPr sz="1300">
              <a:solidFill>
                <a:srgbClr val="2B30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326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h2e1ae9e3d829f7f1_2_272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2326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  <p:sp>
        <p:nvSpPr>
          <p:cNvPr id="625" name="Google Shape;625;h2e1ae9e3d829f7f1_2_272"/>
          <p:cNvSpPr txBox="1"/>
          <p:nvPr/>
        </p:nvSpPr>
        <p:spPr>
          <a:xfrm>
            <a:off x="1325880" y="384048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 state</a:t>
            </a:r>
            <a:endParaRPr/>
          </a:p>
        </p:txBody>
      </p:sp>
      <p:sp>
        <p:nvSpPr>
          <p:cNvPr id="626" name="Google Shape;626;h2e1ae9e3d829f7f1_2_272"/>
          <p:cNvSpPr/>
          <p:nvPr/>
        </p:nvSpPr>
        <p:spPr>
          <a:xfrm>
            <a:off x="6492240" y="1691640"/>
            <a:ext cx="5166300" cy="3063300"/>
          </a:xfrm>
          <a:prstGeom prst="roundRect">
            <a:avLst>
              <a:gd fmla="val 6000" name="adj"/>
            </a:avLst>
          </a:prstGeom>
          <a:solidFill>
            <a:srgbClr val="2B3034"/>
          </a:solidFill>
          <a:ln cap="flat" cmpd="sng" w="9525">
            <a:solidFill>
              <a:srgbClr val="6B75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h2e1ae9e3d829f7f1_2_272"/>
          <p:cNvSpPr txBox="1"/>
          <p:nvPr/>
        </p:nvSpPr>
        <p:spPr>
          <a:xfrm>
            <a:off x="6601968" y="3044952"/>
            <a:ext cx="4947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PHOTO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57C"/>
                </a:solidFill>
                <a:latin typeface="Calibri"/>
                <a:ea typeface="Calibri"/>
                <a:cs typeface="Calibri"/>
                <a:sym typeface="Calibri"/>
              </a:rPr>
              <a:t>11-end-state.jpg</a:t>
            </a:r>
            <a:endParaRPr/>
          </a:p>
        </p:txBody>
      </p:sp>
      <p:sp>
        <p:nvSpPr>
          <p:cNvPr id="628" name="Google Shape;628;h2e1ae9e3d829f7f1_2_272"/>
          <p:cNvSpPr txBox="1"/>
          <p:nvPr/>
        </p:nvSpPr>
        <p:spPr>
          <a:xfrm>
            <a:off x="548640" y="1691640"/>
            <a:ext cx="5577840" cy="231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WI-02 IS DONE WHEN ALL OF THESE ARE TRUE:</a:t>
            </a:r>
            <a:endParaRPr/>
          </a:p>
        </p:txBody>
      </p:sp>
      <p:sp>
        <p:nvSpPr>
          <p:cNvPr id="629" name="Google Shape;629;h2e1ae9e3d829f7f1_2_272"/>
          <p:cNvSpPr txBox="1"/>
          <p:nvPr/>
        </p:nvSpPr>
        <p:spPr>
          <a:xfrm>
            <a:off x="548640" y="1959356"/>
            <a:ext cx="55778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Twelve motor joints soldered, inspected, tug-tested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XT60 on the battery pads, polarity confirmed, shrink over both joints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1000 µF 35 V capacitor across the pads, stripe to −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Continuity audit passed — no shorts, no crossed pads</a:t>
            </a:r>
            <a:endParaRPr/>
          </a:p>
          <a:p>
            <a:pPr indent="0" lvl="0" marL="0" marR="0" rtl="0" algn="l">
              <a:spcBef>
                <a:spcPts val="63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powertrain has still never been powered.</a:t>
            </a:r>
            <a:endParaRPr/>
          </a:p>
        </p:txBody>
      </p:sp>
      <p:sp>
        <p:nvSpPr>
          <p:cNvPr id="630" name="Google Shape;630;h2e1ae9e3d829f7f1_2_272"/>
          <p:cNvSpPr txBox="1"/>
          <p:nvPr/>
        </p:nvSpPr>
        <p:spPr>
          <a:xfrm>
            <a:off x="548640" y="3910838"/>
            <a:ext cx="5577840" cy="462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NEXT 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WI-03 — FC install, pinout check, first power through the smoke stopper. Unblocks when the SkyStars H743 lands.</a:t>
            </a:r>
            <a:endParaRPr/>
          </a:p>
        </p:txBody>
      </p:sp>
      <p:sp>
        <p:nvSpPr>
          <p:cNvPr id="631" name="Google Shape;631;h2e1ae9e3d829f7f1_2_272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AA3A9"/>
                </a:solidFill>
                <a:latin typeface="Calibri"/>
                <a:ea typeface="Calibri"/>
                <a:cs typeface="Calibri"/>
                <a:sym typeface="Calibri"/>
              </a:rPr>
              <a:t>WI-02 · ESC soldering: motors, XT60, capacitor</a:t>
            </a:r>
            <a:endParaRPr/>
          </a:p>
        </p:txBody>
      </p:sp>
      <p:sp>
        <p:nvSpPr>
          <p:cNvPr id="632" name="Google Shape;632;h2e1ae9e3d829f7f1_2_272"/>
          <p:cNvSpPr txBox="1"/>
          <p:nvPr/>
        </p:nvSpPr>
        <p:spPr>
          <a:xfrm>
            <a:off x="7498079" y="6355080"/>
            <a:ext cx="4114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AA3A9"/>
                </a:solidFill>
                <a:latin typeface="Calibri"/>
                <a:ea typeface="Calibri"/>
                <a:cs typeface="Calibri"/>
                <a:sym typeface="Calibri"/>
              </a:rPr>
              <a:t>24 / 24</a:t>
            </a:r>
            <a:endParaRPr/>
          </a:p>
        </p:txBody>
      </p:sp>
      <p:sp>
        <p:nvSpPr>
          <p:cNvPr id="633" name="Google Shape;633;h2e1ae9e3d829f7f1_2_272"/>
          <p:cNvSpPr txBox="1"/>
          <p:nvPr/>
        </p:nvSpPr>
        <p:spPr>
          <a:xfrm>
            <a:off x="548640" y="5303520"/>
            <a:ext cx="11109900" cy="567000"/>
          </a:xfrm>
          <a:prstGeom prst="rect">
            <a:avLst/>
          </a:prstGeom>
          <a:solidFill>
            <a:srgbClr val="2B303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TOOLS </a:t>
            </a:r>
            <a:r>
              <a:rPr lang="en-US" sz="1300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  ⚡ Soldering station · flux · tweezers · flush cutters · ⚡ multimeter</a:t>
            </a:r>
            <a:endParaRPr sz="1300">
              <a:solidFill>
                <a:srgbClr val="E8EAE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PARTS </a:t>
            </a:r>
            <a:r>
              <a:rPr lang="en-US" sz="1300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  ⚡ ESC · ⚡ 12 motor wires · ⚡ XT60 pigtail · ⚡ 1000 µF capacitor · heat shrink · solder</a:t>
            </a:r>
            <a:endParaRPr sz="1300">
              <a:solidFill>
                <a:srgbClr val="E8EAE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