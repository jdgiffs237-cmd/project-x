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6.jpg"/><Relationship Id="rId4" Type="http://schemas.openxmlformats.org/officeDocument/2006/relationships/image" Target="../media/image7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3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972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1400" i="0">
                <a:solidFill>
                  <a:srgbClr val="E8A33D"/>
                </a:solidFill>
                <a:latin typeface="Calibri"/>
              </a:rPr>
              <a:t>PROJECT ONE  ·  ROUTING  ·  WI-01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4000" i="0">
                <a:solidFill>
                  <a:srgbClr val="FFFFFF"/>
                </a:solidFill>
                <a:latin typeface="Calibri"/>
              </a:rPr>
              <a:t>Bench setup, frame assembly, motor mounting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1463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1100" i="0">
                <a:solidFill>
                  <a:srgbClr val="E8A33D"/>
                </a:solidFill>
                <a:latin typeface="Calibri"/>
              </a:rPr>
              <a:t>STATUS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3657600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0" sz="1400" i="0">
                <a:solidFill>
                  <a:srgbClr val="E6E8EA"/>
                </a:solidFill>
                <a:latin typeface="Calibri"/>
              </a:rPr>
              <a:t>Complete — 2026-09-20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053332"/>
            <a:ext cx="1463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1100" i="0">
                <a:solidFill>
                  <a:srgbClr val="E8A33D"/>
                </a:solidFill>
                <a:latin typeface="Calibri"/>
              </a:rPr>
              <a:t>NEEDS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4053332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0" sz="1400" i="0">
                <a:solidFill>
                  <a:srgbClr val="E6E8EA"/>
                </a:solidFill>
                <a:latin typeface="Calibri"/>
              </a:rPr>
              <a:t>Everything that has arrived. Not the flight controller.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449064"/>
            <a:ext cx="1463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1100" i="0">
                <a:solidFill>
                  <a:srgbClr val="E8A33D"/>
                </a:solidFill>
                <a:latin typeface="Calibri"/>
              </a:rPr>
              <a:t>BATTERY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4449064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0" sz="1400" i="0">
                <a:solidFill>
                  <a:srgbClr val="E6E8EA"/>
                </a:solidFill>
                <a:latin typeface="Calibri"/>
              </a:rPr>
              <a:t>Stays in the LiPo bag for the entire WI. Not needed, not used.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844796"/>
            <a:ext cx="1463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1100" i="0">
                <a:solidFill>
                  <a:srgbClr val="E8A33D"/>
                </a:solidFill>
                <a:latin typeface="Calibri"/>
              </a:rPr>
              <a:t>TIME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4844796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0" sz="1400" i="0">
                <a:solidFill>
                  <a:srgbClr val="E6E8EA"/>
                </a:solidFill>
                <a:latin typeface="Calibri"/>
              </a:rPr>
              <a:t>~2 h 15 min across five operations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355080"/>
            <a:ext cx="8229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b="0" sz="1000" i="0">
                <a:solidFill>
                  <a:srgbClr val="9AA3A9"/>
                </a:solidFill>
                <a:latin typeface="Calibri"/>
              </a:rPr>
              <a:t>WI-01 · Bench setup, frame assembly, motor mounting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79" y="6355080"/>
            <a:ext cx="4114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b="0" sz="1000" i="0">
                <a:solidFill>
                  <a:srgbClr val="9AA3A9"/>
                </a:solidFill>
                <a:latin typeface="Calibri"/>
              </a:rPr>
              <a:t>One slide per step · one photo · one check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3200" i="0">
                <a:solidFill>
                  <a:srgbClr val="1F2326"/>
                </a:solidFill>
                <a:latin typeface="Calibri"/>
              </a:rPr>
              <a:t>Deck</a:t>
            </a:r>
          </a:p>
        </p:txBody>
      </p:sp>
      <p:sp>
        <p:nvSpPr>
          <p:cNvPr id="3" name="Oval 2"/>
          <p:cNvSpPr/>
          <p:nvPr/>
        </p:nvSpPr>
        <p:spPr>
          <a:xfrm>
            <a:off x="548640" y="1554480"/>
            <a:ext cx="365760" cy="365760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200" i="0">
                <a:solidFill>
                  <a:srgbClr val="1F2326"/>
                </a:solidFill>
                <a:latin typeface="Calibri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1554480"/>
            <a:ext cx="40233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b="0" sz="1500" i="0">
                <a:solidFill>
                  <a:srgbClr val="2B3034"/>
                </a:solidFill>
                <a:latin typeface="Calibri"/>
              </a:rPr>
              <a:t>Tools &amp; parts on the bench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2011680"/>
            <a:ext cx="365760" cy="365760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200" i="0">
                <a:solidFill>
                  <a:srgbClr val="1F2326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011680"/>
            <a:ext cx="40233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b="0" sz="1500" i="0">
                <a:solidFill>
                  <a:srgbClr val="2B3034"/>
                </a:solidFill>
                <a:latin typeface="Calibri"/>
              </a:rPr>
              <a:t>Prove the iron: heat, hold, tin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2011680"/>
            <a:ext cx="9144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b="0" sz="1100" i="0">
                <a:solidFill>
                  <a:srgbClr val="6B757C"/>
                </a:solidFill>
                <a:latin typeface="Calibri"/>
              </a:rPr>
              <a:t>Op 10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468880"/>
            <a:ext cx="365760" cy="365760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200" i="0">
                <a:solidFill>
                  <a:srgbClr val="1F2326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468880"/>
            <a:ext cx="40233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b="0" sz="1500" i="0">
                <a:solidFill>
                  <a:srgbClr val="2B3034"/>
                </a:solidFill>
                <a:latin typeface="Calibri"/>
              </a:rPr>
              <a:t>Three practice joints on scrap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2468880"/>
            <a:ext cx="9144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b="0" sz="1100" i="0">
                <a:solidFill>
                  <a:srgbClr val="6B757C"/>
                </a:solidFill>
                <a:latin typeface="Calibri"/>
              </a:rPr>
              <a:t>Op 10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2926080"/>
            <a:ext cx="365760" cy="365760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200" i="0">
                <a:solidFill>
                  <a:srgbClr val="1F2326"/>
                </a:solidFill>
                <a:latin typeface="Calibri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926080"/>
            <a:ext cx="40233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b="0" sz="1500" i="0">
                <a:solidFill>
                  <a:srgbClr val="2B3034"/>
                </a:solidFill>
                <a:latin typeface="Calibri"/>
              </a:rPr>
              <a:t>Inventory the open boxes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926080"/>
            <a:ext cx="9144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b="0" sz="1100" i="0">
                <a:solidFill>
                  <a:srgbClr val="6B757C"/>
                </a:solidFill>
                <a:latin typeface="Calibri"/>
              </a:rPr>
              <a:t>Op 20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3383280"/>
            <a:ext cx="365760" cy="365760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200" i="0">
                <a:solidFill>
                  <a:srgbClr val="1F2326"/>
                </a:solidFill>
                <a:latin typeface="Calibri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383280"/>
            <a:ext cx="40233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b="0" sz="1500" i="0">
                <a:solidFill>
                  <a:srgbClr val="2B3034"/>
                </a:solidFill>
                <a:latin typeface="Calibri"/>
              </a:rPr>
              <a:t>Battery storage-voltage check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3383280"/>
            <a:ext cx="9144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b="0" sz="1100" i="0">
                <a:solidFill>
                  <a:srgbClr val="6B757C"/>
                </a:solidFill>
                <a:latin typeface="Calibri"/>
              </a:rPr>
              <a:t>Op 20</a:t>
            </a:r>
          </a:p>
        </p:txBody>
      </p:sp>
      <p:sp>
        <p:nvSpPr>
          <p:cNvPr id="17" name="Oval 16"/>
          <p:cNvSpPr/>
          <p:nvPr/>
        </p:nvSpPr>
        <p:spPr>
          <a:xfrm>
            <a:off x="548640" y="3840480"/>
            <a:ext cx="365760" cy="365760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200" i="0">
                <a:solidFill>
                  <a:srgbClr val="1F2326"/>
                </a:solidFill>
                <a:latin typeface="Calibri"/>
              </a:rPr>
              <a:t>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3840480"/>
            <a:ext cx="40233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b="0" sz="1500" i="0">
                <a:solidFill>
                  <a:srgbClr val="2B3034"/>
                </a:solidFill>
                <a:latin typeface="Calibri"/>
              </a:rPr>
              <a:t>Lay out the frame kit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3840480"/>
            <a:ext cx="9144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b="0" sz="1100" i="0">
                <a:solidFill>
                  <a:srgbClr val="6B757C"/>
                </a:solidFill>
                <a:latin typeface="Calibri"/>
              </a:rPr>
              <a:t>Op 30</a:t>
            </a:r>
          </a:p>
        </p:txBody>
      </p:sp>
      <p:sp>
        <p:nvSpPr>
          <p:cNvPr id="20" name="Oval 19"/>
          <p:cNvSpPr/>
          <p:nvPr/>
        </p:nvSpPr>
        <p:spPr>
          <a:xfrm>
            <a:off x="548640" y="4297680"/>
            <a:ext cx="365760" cy="365760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200" i="0">
                <a:solidFill>
                  <a:srgbClr val="1F2326"/>
                </a:solidFill>
                <a:latin typeface="Calibri"/>
              </a:rPr>
              <a:t>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4297680"/>
            <a:ext cx="40233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b="0" sz="1500" i="0">
                <a:solidFill>
                  <a:srgbClr val="2B3034"/>
                </a:solidFill>
                <a:latin typeface="Calibri"/>
              </a:rPr>
              <a:t>Bottom plate, arms, standoffs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63440" y="4297680"/>
            <a:ext cx="9144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b="0" sz="1100" i="0">
                <a:solidFill>
                  <a:srgbClr val="6B757C"/>
                </a:solidFill>
                <a:latin typeface="Calibri"/>
              </a:rPr>
              <a:t>Op 30</a:t>
            </a:r>
          </a:p>
        </p:txBody>
      </p:sp>
      <p:sp>
        <p:nvSpPr>
          <p:cNvPr id="23" name="Oval 22"/>
          <p:cNvSpPr/>
          <p:nvPr/>
        </p:nvSpPr>
        <p:spPr>
          <a:xfrm>
            <a:off x="548640" y="4754880"/>
            <a:ext cx="365760" cy="365760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200" i="0">
                <a:solidFill>
                  <a:srgbClr val="1F2326"/>
                </a:solidFill>
                <a:latin typeface="Calibri"/>
              </a:rPr>
              <a:t>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" y="4754880"/>
            <a:ext cx="40233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b="0" sz="1500" i="0">
                <a:solidFill>
                  <a:srgbClr val="2B3034"/>
                </a:solidFill>
                <a:latin typeface="Calibri"/>
              </a:rPr>
              <a:t>Frame check: flat and square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3440" y="4754880"/>
            <a:ext cx="9144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b="0" sz="1100" i="0">
                <a:solidFill>
                  <a:srgbClr val="6B757C"/>
                </a:solidFill>
                <a:latin typeface="Calibri"/>
              </a:rPr>
              <a:t>Op 30</a:t>
            </a:r>
          </a:p>
        </p:txBody>
      </p:sp>
      <p:sp>
        <p:nvSpPr>
          <p:cNvPr id="26" name="Oval 25"/>
          <p:cNvSpPr/>
          <p:nvPr/>
        </p:nvSpPr>
        <p:spPr>
          <a:xfrm>
            <a:off x="6309360" y="1554480"/>
            <a:ext cx="365760" cy="365760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200" i="0">
                <a:solidFill>
                  <a:srgbClr val="1F2326"/>
                </a:solidFill>
                <a:latin typeface="Calibri"/>
              </a:rPr>
              <a:t>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12280" y="1554480"/>
            <a:ext cx="40233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b="0" sz="1500" i="0">
                <a:solidFill>
                  <a:srgbClr val="2B3034"/>
                </a:solidFill>
                <a:latin typeface="Calibri"/>
              </a:rPr>
              <a:t>Motor screw length — do the math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424160" y="1554480"/>
            <a:ext cx="9144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b="0" sz="1100" i="0">
                <a:solidFill>
                  <a:srgbClr val="6B757C"/>
                </a:solidFill>
                <a:latin typeface="Calibri"/>
              </a:rPr>
              <a:t>Op 40</a:t>
            </a:r>
          </a:p>
        </p:txBody>
      </p:sp>
      <p:sp>
        <p:nvSpPr>
          <p:cNvPr id="29" name="Oval 28"/>
          <p:cNvSpPr/>
          <p:nvPr/>
        </p:nvSpPr>
        <p:spPr>
          <a:xfrm>
            <a:off x="6309360" y="2011680"/>
            <a:ext cx="365760" cy="365760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200" i="0">
                <a:solidFill>
                  <a:srgbClr val="1F2326"/>
                </a:solidFill>
                <a:latin typeface="Calibri"/>
              </a:rPr>
              <a:t>10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12280" y="2011680"/>
            <a:ext cx="40233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b="0" sz="1500" i="0">
                <a:solidFill>
                  <a:srgbClr val="2B3034"/>
                </a:solidFill>
                <a:latin typeface="Calibri"/>
              </a:rPr>
              <a:t>Loctite: dab, dip, drive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424160" y="2011680"/>
            <a:ext cx="9144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b="0" sz="1100" i="0">
                <a:solidFill>
                  <a:srgbClr val="6B757C"/>
                </a:solidFill>
                <a:latin typeface="Calibri"/>
              </a:rPr>
              <a:t>Op 40</a:t>
            </a:r>
          </a:p>
        </p:txBody>
      </p:sp>
      <p:sp>
        <p:nvSpPr>
          <p:cNvPr id="32" name="Oval 31"/>
          <p:cNvSpPr/>
          <p:nvPr/>
        </p:nvSpPr>
        <p:spPr>
          <a:xfrm>
            <a:off x="6309360" y="2468880"/>
            <a:ext cx="365760" cy="365760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200" i="0">
                <a:solidFill>
                  <a:srgbClr val="1F2326"/>
                </a:solidFill>
                <a:latin typeface="Calibri"/>
              </a:rPr>
              <a:t>11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12280" y="2468880"/>
            <a:ext cx="40233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b="0" sz="1500" i="0">
                <a:solidFill>
                  <a:srgbClr val="2B3034"/>
                </a:solidFill>
                <a:latin typeface="Calibri"/>
              </a:rPr>
              <a:t>Seat the motor on the arm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424160" y="2468880"/>
            <a:ext cx="9144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b="0" sz="1100" i="0">
                <a:solidFill>
                  <a:srgbClr val="6B757C"/>
                </a:solidFill>
                <a:latin typeface="Calibri"/>
              </a:rPr>
              <a:t>Op 40</a:t>
            </a:r>
          </a:p>
        </p:txBody>
      </p:sp>
      <p:sp>
        <p:nvSpPr>
          <p:cNvPr id="35" name="Oval 34"/>
          <p:cNvSpPr/>
          <p:nvPr/>
        </p:nvSpPr>
        <p:spPr>
          <a:xfrm>
            <a:off x="6309360" y="2926080"/>
            <a:ext cx="365760" cy="365760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200" i="0">
                <a:solidFill>
                  <a:srgbClr val="1F2326"/>
                </a:solidFill>
                <a:latin typeface="Calibri"/>
              </a:rPr>
              <a:t>12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12280" y="2926080"/>
            <a:ext cx="40233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b="0" sz="1500" i="0">
                <a:solidFill>
                  <a:srgbClr val="2B3034"/>
                </a:solidFill>
                <a:latin typeface="Calibri"/>
              </a:rPr>
              <a:t>Drive the screws in a cross pattern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424160" y="2926080"/>
            <a:ext cx="9144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b="0" sz="1100" i="0">
                <a:solidFill>
                  <a:srgbClr val="6B757C"/>
                </a:solidFill>
                <a:latin typeface="Calibri"/>
              </a:rPr>
              <a:t>Op 40</a:t>
            </a:r>
          </a:p>
        </p:txBody>
      </p:sp>
      <p:sp>
        <p:nvSpPr>
          <p:cNvPr id="38" name="Oval 37"/>
          <p:cNvSpPr/>
          <p:nvPr/>
        </p:nvSpPr>
        <p:spPr>
          <a:xfrm>
            <a:off x="6309360" y="3383280"/>
            <a:ext cx="365760" cy="365760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200" i="0">
                <a:solidFill>
                  <a:srgbClr val="1F2326"/>
                </a:solidFill>
                <a:latin typeface="Calibri"/>
              </a:rPr>
              <a:t>13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12280" y="3383280"/>
            <a:ext cx="40233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b="0" sz="1500" i="0">
                <a:solidFill>
                  <a:srgbClr val="2B3034"/>
                </a:solidFill>
                <a:latin typeface="Calibri"/>
              </a:rPr>
              <a:t>Motor check: free spin, wires untrimmed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424160" y="3383280"/>
            <a:ext cx="9144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b="0" sz="1100" i="0">
                <a:solidFill>
                  <a:srgbClr val="6B757C"/>
                </a:solidFill>
                <a:latin typeface="Calibri"/>
              </a:rPr>
              <a:t>Op 40</a:t>
            </a:r>
          </a:p>
        </p:txBody>
      </p:sp>
      <p:sp>
        <p:nvSpPr>
          <p:cNvPr id="41" name="Oval 40"/>
          <p:cNvSpPr/>
          <p:nvPr/>
        </p:nvSpPr>
        <p:spPr>
          <a:xfrm>
            <a:off x="6309360" y="3840480"/>
            <a:ext cx="365760" cy="365760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200" i="0">
                <a:solidFill>
                  <a:srgbClr val="1F2326"/>
                </a:solidFill>
                <a:latin typeface="Calibri"/>
              </a:rPr>
              <a:t>14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12280" y="3840480"/>
            <a:ext cx="40233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b="0" sz="1500" i="0">
                <a:solidFill>
                  <a:srgbClr val="2B3034"/>
                </a:solidFill>
                <a:latin typeface="Calibri"/>
              </a:rPr>
              <a:t>Stage the ESC and route the wires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424160" y="3840480"/>
            <a:ext cx="9144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b="0" sz="1100" i="0">
                <a:solidFill>
                  <a:srgbClr val="6B757C"/>
                </a:solidFill>
                <a:latin typeface="Calibri"/>
              </a:rPr>
              <a:t>Op 50</a:t>
            </a:r>
          </a:p>
        </p:txBody>
      </p:sp>
      <p:sp>
        <p:nvSpPr>
          <p:cNvPr id="44" name="Oval 43"/>
          <p:cNvSpPr/>
          <p:nvPr/>
        </p:nvSpPr>
        <p:spPr>
          <a:xfrm>
            <a:off x="6309360" y="4297680"/>
            <a:ext cx="365760" cy="365760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200" i="0">
                <a:solidFill>
                  <a:srgbClr val="1F2326"/>
                </a:solidFill>
                <a:latin typeface="Calibri"/>
              </a:rPr>
              <a:t>15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12280" y="4297680"/>
            <a:ext cx="40233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b="0" sz="1500" i="0">
                <a:solidFill>
                  <a:srgbClr val="2B3034"/>
                </a:solidFill>
                <a:latin typeface="Calibri"/>
              </a:rPr>
              <a:t>End state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8640" y="6355080"/>
            <a:ext cx="8229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b="0" sz="1000" i="0">
                <a:solidFill>
                  <a:srgbClr val="6B757C"/>
                </a:solidFill>
                <a:latin typeface="Calibri"/>
              </a:rPr>
              <a:t>WI-01 · Bench setup, frame assembly, motor mounting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498079" y="6355080"/>
            <a:ext cx="4114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b="0" sz="1000" i="0">
                <a:solidFill>
                  <a:srgbClr val="6B757C"/>
                </a:solidFill>
                <a:latin typeface="Calibri"/>
              </a:rPr>
              <a:t>15 slides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2000" i="0">
                <a:solidFill>
                  <a:srgbClr val="1F2326"/>
                </a:solidFill>
                <a:latin typeface="Calibri"/>
              </a:rP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25880" y="384048"/>
            <a:ext cx="1024128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b="1" sz="3000" i="0">
                <a:solidFill>
                  <a:srgbClr val="1F2326"/>
                </a:solidFill>
                <a:latin typeface="Calibri"/>
              </a:rPr>
              <a:t>Tools &amp; parts on the bench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92240" y="1691640"/>
            <a:ext cx="5166360" cy="4343400"/>
          </a:xfrm>
          <a:prstGeom prst="roundRect">
            <a:avLst>
              <a:gd name="adj" fmla="val 6000"/>
            </a:avLst>
          </a:prstGeom>
          <a:solidFill>
            <a:srgbClr val="F2F3F4"/>
          </a:solidFill>
          <a:ln w="9525">
            <a:solidFill>
              <a:srgbClr val="E3E5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1-tools-and-part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8941" y="1801368"/>
            <a:ext cx="3092958" cy="4123944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48640" y="5417312"/>
            <a:ext cx="5577840" cy="754888"/>
          </a:xfrm>
          <a:prstGeom prst="roundRect">
            <a:avLst>
              <a:gd name="adj" fmla="val 6000"/>
            </a:avLst>
          </a:prstGeom>
          <a:solidFill>
            <a:srgbClr val="F2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5554472"/>
            <a:ext cx="5212080" cy="4805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1100" i="0">
                <a:solidFill>
                  <a:srgbClr val="E8A33D"/>
                </a:solidFill>
                <a:latin typeface="Calibri"/>
              </a:rPr>
              <a:t>CHECK  </a:t>
            </a:r>
            <a:r>
              <a:rPr b="0" sz="1300" i="0">
                <a:solidFill>
                  <a:srgbClr val="2B3034"/>
                </a:solidFill>
                <a:latin typeface="Calibri"/>
              </a:rPr>
              <a:t>nothing on this list is still in a box you'd have to go find mid-step.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91640"/>
            <a:ext cx="5577840" cy="2311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1100" i="0">
                <a:solidFill>
                  <a:srgbClr val="E8A33D"/>
                </a:solidFill>
                <a:latin typeface="Calibri"/>
              </a:rPr>
              <a:t>ON THE BENCH BEFORE STARTING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959356"/>
            <a:ext cx="557784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30"/>
              </a:spcAft>
            </a:pPr>
            <a:r>
              <a:rPr b="1" sz="1400" i="0">
                <a:solidFill>
                  <a:srgbClr val="E8A33D"/>
                </a:solidFill>
                <a:latin typeface="Calibri"/>
              </a:rPr>
              <a:t>•  </a:t>
            </a:r>
            <a:r>
              <a:rPr b="0" sz="1400" i="0">
                <a:solidFill>
                  <a:srgbClr val="2B3034"/>
                </a:solidFill>
                <a:latin typeface="Calibri"/>
              </a:rPr>
              <a:t>Soldering station — YIHUA 939D+ (75 W) with the largest chisel tip</a:t>
            </a:r>
          </a:p>
          <a:p>
            <a:pPr>
              <a:spcAft>
                <a:spcPts val="630"/>
              </a:spcAft>
            </a:pPr>
            <a:r>
              <a:rPr b="1" sz="1400" i="0">
                <a:solidFill>
                  <a:srgbClr val="E8A33D"/>
                </a:solidFill>
                <a:latin typeface="Calibri"/>
              </a:rPr>
              <a:t>•  </a:t>
            </a:r>
            <a:r>
              <a:rPr b="0" sz="1400" i="0">
                <a:solidFill>
                  <a:srgbClr val="2B3034"/>
                </a:solidFill>
                <a:latin typeface="Calibri"/>
              </a:rPr>
              <a:t>Hex driver set, multimeter, calipers if you have them</a:t>
            </a:r>
          </a:p>
          <a:p>
            <a:pPr>
              <a:spcAft>
                <a:spcPts val="630"/>
              </a:spcAft>
            </a:pPr>
            <a:r>
              <a:rPr b="1" sz="1400" i="0">
                <a:solidFill>
                  <a:srgbClr val="E8A33D"/>
                </a:solidFill>
                <a:latin typeface="Calibri"/>
              </a:rPr>
              <a:t>•  </a:t>
            </a:r>
            <a:r>
              <a:rPr b="0" sz="1400" i="0">
                <a:solidFill>
                  <a:srgbClr val="2B3034"/>
                </a:solidFill>
                <a:latin typeface="Calibri"/>
              </a:rPr>
              <a:t>Safety glasses</a:t>
            </a:r>
          </a:p>
          <a:p>
            <a:pPr>
              <a:spcAft>
                <a:spcPts val="630"/>
              </a:spcAft>
            </a:pPr>
            <a:r>
              <a:rPr b="1" sz="1400" i="0">
                <a:solidFill>
                  <a:srgbClr val="E8A33D"/>
                </a:solidFill>
                <a:latin typeface="Calibri"/>
              </a:rPr>
              <a:t>•  </a:t>
            </a:r>
            <a:r>
              <a:rPr b="0" sz="1400" i="0">
                <a:solidFill>
                  <a:srgbClr val="2B3034"/>
                </a:solidFill>
                <a:latin typeface="Calibri"/>
              </a:rPr>
              <a:t>Loctite 243 (blue)</a:t>
            </a:r>
          </a:p>
          <a:p>
            <a:pPr>
              <a:spcAft>
                <a:spcPts val="630"/>
              </a:spcAft>
            </a:pPr>
            <a:r>
              <a:rPr b="1" sz="1400" i="0">
                <a:solidFill>
                  <a:srgbClr val="E8A33D"/>
                </a:solidFill>
                <a:latin typeface="Calibri"/>
              </a:rPr>
              <a:t>•  </a:t>
            </a:r>
            <a:r>
              <a:rPr b="0" sz="1400" i="0">
                <a:solidFill>
                  <a:srgbClr val="2B3034"/>
                </a:solidFill>
                <a:latin typeface="Calibri"/>
              </a:rPr>
              <a:t>Frame kit — TBS Source One V6, 5"</a:t>
            </a:r>
          </a:p>
          <a:p>
            <a:pPr>
              <a:spcAft>
                <a:spcPts val="630"/>
              </a:spcAft>
            </a:pPr>
            <a:r>
              <a:rPr b="1" sz="1400" i="0">
                <a:solidFill>
                  <a:srgbClr val="E8A33D"/>
                </a:solidFill>
                <a:latin typeface="Calibri"/>
              </a:rPr>
              <a:t>•  </a:t>
            </a:r>
            <a:r>
              <a:rPr b="0" sz="1400" i="0">
                <a:solidFill>
                  <a:srgbClr val="2B3034"/>
                </a:solidFill>
                <a:latin typeface="Calibri"/>
              </a:rPr>
              <a:t>Motors ×4 — EMAX ECO II 2207 1900KV</a:t>
            </a:r>
          </a:p>
          <a:p>
            <a:pPr>
              <a:spcAft>
                <a:spcPts val="630"/>
              </a:spcAft>
            </a:pPr>
            <a:r>
              <a:rPr b="1" sz="1400" i="0">
                <a:solidFill>
                  <a:srgbClr val="E8A33D"/>
                </a:solidFill>
                <a:latin typeface="Calibri"/>
              </a:rPr>
              <a:t>•  </a:t>
            </a:r>
            <a:r>
              <a:rPr b="0" sz="1400" i="0">
                <a:solidFill>
                  <a:srgbClr val="2B3034"/>
                </a:solidFill>
                <a:latin typeface="Calibri"/>
              </a:rPr>
              <a:t>M3 screw assortment</a:t>
            </a:r>
          </a:p>
          <a:p>
            <a:pPr>
              <a:spcAft>
                <a:spcPts val="630"/>
              </a:spcAft>
            </a:pPr>
            <a:r>
              <a:rPr b="1" sz="1400" i="0">
                <a:solidFill>
                  <a:srgbClr val="E8A33D"/>
                </a:solidFill>
                <a:latin typeface="Calibri"/>
              </a:rPr>
              <a:t>•  </a:t>
            </a:r>
            <a:r>
              <a:rPr b="0" sz="1400" i="0">
                <a:solidFill>
                  <a:srgbClr val="2B3034"/>
                </a:solidFill>
                <a:latin typeface="Calibri"/>
              </a:rPr>
              <a:t>ESC — Skystars KO60II 60A AM32</a:t>
            </a:r>
          </a:p>
          <a:p>
            <a:pPr>
              <a:spcAft>
                <a:spcPts val="630"/>
              </a:spcAft>
            </a:pPr>
            <a:r>
              <a:rPr b="1" sz="1400" i="0">
                <a:solidFill>
                  <a:srgbClr val="E8A33D"/>
                </a:solidFill>
                <a:latin typeface="Calibri"/>
              </a:rPr>
              <a:t>•  </a:t>
            </a:r>
            <a:r>
              <a:rPr b="0" sz="1400" i="0">
                <a:solidFill>
                  <a:srgbClr val="2B3034"/>
                </a:solidFill>
                <a:latin typeface="Calibri"/>
              </a:rPr>
              <a:t>Solder, flux, wick, scrap wire, heat shrink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355080"/>
            <a:ext cx="8229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b="0" sz="1000" i="0">
                <a:solidFill>
                  <a:srgbClr val="6B757C"/>
                </a:solidFill>
                <a:latin typeface="Calibri"/>
              </a:rPr>
              <a:t>WI-01 · Bench setup, frame assembly, motor mounting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79" y="6355080"/>
            <a:ext cx="4114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b="0" sz="1000" i="0">
                <a:solidFill>
                  <a:srgbClr val="6B757C"/>
                </a:solidFill>
                <a:latin typeface="Calibri"/>
              </a:rPr>
              <a:t>1 /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2000" i="0">
                <a:solidFill>
                  <a:srgbClr val="1F2326"/>
                </a:solidFill>
                <a:latin typeface="Calibri"/>
              </a:rP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25880" y="384048"/>
            <a:ext cx="1024128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b="1" sz="3000" i="0">
                <a:solidFill>
                  <a:srgbClr val="1F2326"/>
                </a:solidFill>
                <a:latin typeface="Calibri"/>
              </a:rPr>
              <a:t>Prove the iron: heat, hold, tin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11887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1100" i="0">
                <a:solidFill>
                  <a:srgbClr val="6B757C"/>
                </a:solidFill>
                <a:latin typeface="Calibri"/>
              </a:rPr>
              <a:t>OP 10 · 5 MIN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92240" y="1691640"/>
            <a:ext cx="5166360" cy="4343400"/>
          </a:xfrm>
          <a:prstGeom prst="roundRect">
            <a:avLst>
              <a:gd name="adj" fmla="val 6000"/>
            </a:avLst>
          </a:prstGeom>
          <a:solidFill>
            <a:srgbClr val="F2F3F4"/>
          </a:solidFill>
          <a:ln w="9525">
            <a:solidFill>
              <a:srgbClr val="E3E5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01968" y="1691640"/>
            <a:ext cx="4946904" cy="4343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b="1" sz="1300" i="0">
                <a:solidFill>
                  <a:srgbClr val="6B757C"/>
                </a:solidFill>
                <a:latin typeface="Calibri"/>
              </a:rPr>
              <a:t>PHOTO</a:t>
            </a:r>
          </a:p>
          <a:p>
            <a:pPr algn="ctr"/>
            <a:r>
              <a:rPr b="0" sz="1000" i="0">
                <a:solidFill>
                  <a:srgbClr val="6B757C"/>
                </a:solidFill>
                <a:latin typeface="Calibri"/>
              </a:rPr>
              <a:t>02-iron-at-temperature.jpg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087112"/>
            <a:ext cx="5577840" cy="1085088"/>
          </a:xfrm>
          <a:prstGeom prst="roundRect">
            <a:avLst>
              <a:gd name="adj" fmla="val 6000"/>
            </a:avLst>
          </a:prstGeom>
          <a:solidFill>
            <a:srgbClr val="F2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224272"/>
            <a:ext cx="5212080" cy="810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1300" i="0">
                <a:solidFill>
                  <a:srgbClr val="E8A33D"/>
                </a:solidFill>
                <a:latin typeface="Calibri"/>
              </a:rPr>
              <a:t>CHECK  </a:t>
            </a:r>
            <a:r>
              <a:rPr b="0" sz="1500" i="0">
                <a:solidFill>
                  <a:srgbClr val="2B3034"/>
                </a:solidFill>
                <a:latin typeface="Calibri"/>
              </a:rPr>
              <a:t>display reaches and holds temperature. Solder flows and coats the tip instantly; if it balls up, the tip isn't hot or isn't clean.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691640"/>
            <a:ext cx="5577840" cy="883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0" sz="1600" i="0">
                <a:solidFill>
                  <a:srgbClr val="6B757C"/>
                </a:solidFill>
                <a:latin typeface="Calibri"/>
              </a:rPr>
              <a:t>The AiXun sat in its box, turned out to be defective, and cost a week. The first thing the new iron does is prove it works.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648712"/>
            <a:ext cx="5577840" cy="264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1300" i="0">
                <a:solidFill>
                  <a:srgbClr val="E8A33D"/>
                </a:solidFill>
                <a:latin typeface="Calibri"/>
              </a:rPr>
              <a:t>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949448"/>
            <a:ext cx="557784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20"/>
              </a:spcAft>
            </a:pPr>
            <a:r>
              <a:rPr b="1" sz="1600" i="0">
                <a:solidFill>
                  <a:srgbClr val="E8A33D"/>
                </a:solidFill>
                <a:latin typeface="Calibri"/>
              </a:rPr>
              <a:t>1.  </a:t>
            </a:r>
            <a:r>
              <a:rPr b="0" sz="1600" i="0">
                <a:solidFill>
                  <a:srgbClr val="2B3034"/>
                </a:solidFill>
                <a:latin typeface="Calibri"/>
              </a:rPr>
              <a:t>Power on the YIHUA. Set </a:t>
            </a:r>
            <a:r>
              <a:rPr b="1" sz="1600" i="0">
                <a:solidFill>
                  <a:srgbClr val="2B3034"/>
                </a:solidFill>
                <a:latin typeface="Calibri"/>
              </a:rPr>
              <a:t>350 °C / 662 °F</a:t>
            </a:r>
            <a:r>
              <a:rPr b="0" sz="1600" i="0">
                <a:solidFill>
                  <a:srgbClr val="2B3034"/>
                </a:solidFill>
                <a:latin typeface="Calibri"/>
              </a:rPr>
              <a:t>.</a:t>
            </a:r>
          </a:p>
          <a:p>
            <a:pPr>
              <a:spcAft>
                <a:spcPts val="720"/>
              </a:spcAft>
            </a:pPr>
            <a:r>
              <a:rPr b="1" sz="1600" i="0">
                <a:solidFill>
                  <a:srgbClr val="E8A33D"/>
                </a:solidFill>
                <a:latin typeface="Calibri"/>
              </a:rPr>
              <a:t>2.  </a:t>
            </a:r>
            <a:r>
              <a:rPr b="0" sz="1600" i="0">
                <a:solidFill>
                  <a:srgbClr val="2B3034"/>
                </a:solidFill>
                <a:latin typeface="Calibri"/>
              </a:rPr>
              <a:t>Fit the </a:t>
            </a:r>
            <a:r>
              <a:rPr b="1" sz="1600" i="0">
                <a:solidFill>
                  <a:srgbClr val="2B3034"/>
                </a:solidFill>
                <a:latin typeface="Calibri"/>
              </a:rPr>
              <a:t>largest chisel tip</a:t>
            </a:r>
            <a:r>
              <a:rPr b="0" sz="1600" i="0">
                <a:solidFill>
                  <a:srgbClr val="2B3034"/>
                </a:solidFill>
                <a:latin typeface="Calibri"/>
              </a:rPr>
              <a:t>.</a:t>
            </a:r>
          </a:p>
          <a:p>
            <a:pPr>
              <a:spcAft>
                <a:spcPts val="720"/>
              </a:spcAft>
            </a:pPr>
            <a:r>
              <a:rPr b="1" sz="1600" i="0">
                <a:solidFill>
                  <a:srgbClr val="E8A33D"/>
                </a:solidFill>
                <a:latin typeface="Calibri"/>
              </a:rPr>
              <a:t>3.  </a:t>
            </a:r>
            <a:r>
              <a:rPr b="0" sz="1600" i="0">
                <a:solidFill>
                  <a:srgbClr val="2B3034"/>
                </a:solidFill>
                <a:latin typeface="Calibri"/>
              </a:rPr>
              <a:t>Tin it — touch solder to the hot tip.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355080"/>
            <a:ext cx="8229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b="0" sz="1000" i="0">
                <a:solidFill>
                  <a:srgbClr val="6B757C"/>
                </a:solidFill>
                <a:latin typeface="Calibri"/>
              </a:rPr>
              <a:t>WI-01 · Bench setup, frame assembly, motor mounting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79" y="6355080"/>
            <a:ext cx="4114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b="0" sz="1000" i="0">
                <a:solidFill>
                  <a:srgbClr val="6B757C"/>
                </a:solidFill>
                <a:latin typeface="Calibri"/>
              </a:rPr>
              <a:t>2 / 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2000" i="0">
                <a:solidFill>
                  <a:srgbClr val="1F2326"/>
                </a:solidFill>
                <a:latin typeface="Calibri"/>
              </a:rP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25880" y="384048"/>
            <a:ext cx="1024128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b="1" sz="3000" i="0">
                <a:solidFill>
                  <a:srgbClr val="1F2326"/>
                </a:solidFill>
                <a:latin typeface="Calibri"/>
              </a:rPr>
              <a:t>Three practice joints on scrap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11887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1100" i="0">
                <a:solidFill>
                  <a:srgbClr val="6B757C"/>
                </a:solidFill>
                <a:latin typeface="Calibri"/>
              </a:rPr>
              <a:t>OP 10 · 10 MIN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92240" y="1691640"/>
            <a:ext cx="5166360" cy="4343400"/>
          </a:xfrm>
          <a:prstGeom prst="roundRect">
            <a:avLst>
              <a:gd name="adj" fmla="val 6000"/>
            </a:avLst>
          </a:prstGeom>
          <a:solidFill>
            <a:srgbClr val="F2F3F4"/>
          </a:solidFill>
          <a:ln w="9525">
            <a:solidFill>
              <a:srgbClr val="E3E5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01968" y="1691640"/>
            <a:ext cx="4946904" cy="4343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b="1" sz="1300" i="0">
                <a:solidFill>
                  <a:srgbClr val="6B757C"/>
                </a:solidFill>
                <a:latin typeface="Calibri"/>
              </a:rPr>
              <a:t>PHOTO</a:t>
            </a:r>
          </a:p>
          <a:p>
            <a:pPr algn="ctr"/>
            <a:r>
              <a:rPr b="0" sz="1000" i="0">
                <a:solidFill>
                  <a:srgbClr val="6B757C"/>
                </a:solidFill>
                <a:latin typeface="Calibri"/>
              </a:rPr>
              <a:t>03-practice-joint.jpg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087112"/>
            <a:ext cx="5577840" cy="1085088"/>
          </a:xfrm>
          <a:prstGeom prst="roundRect">
            <a:avLst>
              <a:gd name="adj" fmla="val 6000"/>
            </a:avLst>
          </a:prstGeom>
          <a:solidFill>
            <a:srgbClr val="F2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224272"/>
            <a:ext cx="5212080" cy="810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1300" i="0">
                <a:solidFill>
                  <a:srgbClr val="E8A33D"/>
                </a:solidFill>
                <a:latin typeface="Calibri"/>
              </a:rPr>
              <a:t>CHECK  </a:t>
            </a:r>
            <a:r>
              <a:rPr b="0" sz="1500" i="0">
                <a:solidFill>
                  <a:srgbClr val="2B3034"/>
                </a:solidFill>
                <a:latin typeface="Calibri"/>
              </a:rPr>
              <a:t>joint is shiny and solid, shrink is tight over it. Three in a row that pass, or keep practicing.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691640"/>
            <a:ext cx="5577840" cy="264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1300" i="0">
                <a:solidFill>
                  <a:srgbClr val="E8A33D"/>
                </a:solidFill>
                <a:latin typeface="Calibri"/>
              </a:rPr>
              <a:t>DO — THREE TIMES, BEFORE ANY REAL JOINT: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992376"/>
            <a:ext cx="557784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20"/>
              </a:spcAft>
            </a:pPr>
            <a:r>
              <a:rPr b="1" sz="1600" i="0">
                <a:solidFill>
                  <a:srgbClr val="E8A33D"/>
                </a:solidFill>
                <a:latin typeface="Calibri"/>
              </a:rPr>
              <a:t>1.  </a:t>
            </a:r>
            <a:r>
              <a:rPr b="0" sz="1600" i="0">
                <a:solidFill>
                  <a:srgbClr val="2B3034"/>
                </a:solidFill>
                <a:latin typeface="Calibri"/>
              </a:rPr>
              <a:t>Tin two scrap wire ends.</a:t>
            </a:r>
          </a:p>
          <a:p>
            <a:pPr>
              <a:spcAft>
                <a:spcPts val="720"/>
              </a:spcAft>
            </a:pPr>
            <a:r>
              <a:rPr b="1" sz="1600" i="0">
                <a:solidFill>
                  <a:srgbClr val="E8A33D"/>
                </a:solidFill>
                <a:latin typeface="Calibri"/>
              </a:rPr>
              <a:t>2.  </a:t>
            </a:r>
            <a:r>
              <a:rPr b="0" sz="1600" i="0">
                <a:solidFill>
                  <a:srgbClr val="2B3034"/>
                </a:solidFill>
                <a:latin typeface="Calibri"/>
              </a:rPr>
              <a:t>Join them.</a:t>
            </a:r>
          </a:p>
          <a:p>
            <a:pPr>
              <a:spcAft>
                <a:spcPts val="720"/>
              </a:spcAft>
            </a:pPr>
            <a:r>
              <a:rPr b="1" sz="1600" i="0">
                <a:solidFill>
                  <a:srgbClr val="E8A33D"/>
                </a:solidFill>
                <a:latin typeface="Calibri"/>
              </a:rPr>
              <a:t>3.  </a:t>
            </a:r>
            <a:r>
              <a:rPr b="0" sz="1600" i="0">
                <a:solidFill>
                  <a:srgbClr val="2B3034"/>
                </a:solidFill>
                <a:latin typeface="Calibri"/>
              </a:rPr>
              <a:t>Slide heat shrink over the joint and shrink it — iron barrel held near, rotate the wire. No heat gun needed.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355080"/>
            <a:ext cx="8229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b="0" sz="1000" i="0">
                <a:solidFill>
                  <a:srgbClr val="6B757C"/>
                </a:solidFill>
                <a:latin typeface="Calibri"/>
              </a:rPr>
              <a:t>WI-01 · Bench setup, frame assembly, motor mounting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79" y="6355080"/>
            <a:ext cx="4114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b="0" sz="1000" i="0">
                <a:solidFill>
                  <a:srgbClr val="6B757C"/>
                </a:solidFill>
                <a:latin typeface="Calibri"/>
              </a:rPr>
              <a:t>3 / 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2000" i="0">
                <a:solidFill>
                  <a:srgbClr val="1F2326"/>
                </a:solidFill>
                <a:latin typeface="Calibri"/>
              </a:rPr>
              <a:t>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25880" y="384048"/>
            <a:ext cx="1024128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b="1" sz="3000" i="0">
                <a:solidFill>
                  <a:srgbClr val="1F2326"/>
                </a:solidFill>
                <a:latin typeface="Calibri"/>
              </a:rPr>
              <a:t>Inventory the open boxes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11887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1100" i="0">
                <a:solidFill>
                  <a:srgbClr val="6B757C"/>
                </a:solidFill>
                <a:latin typeface="Calibri"/>
              </a:rPr>
              <a:t>OP 20 · 5 MIN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92240" y="1691640"/>
            <a:ext cx="5166360" cy="4343400"/>
          </a:xfrm>
          <a:prstGeom prst="roundRect">
            <a:avLst>
              <a:gd name="adj" fmla="val 6000"/>
            </a:avLst>
          </a:prstGeom>
          <a:solidFill>
            <a:srgbClr val="F2F3F4"/>
          </a:solidFill>
          <a:ln w="9525">
            <a:solidFill>
              <a:srgbClr val="E3E5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01968" y="1691640"/>
            <a:ext cx="4946904" cy="4343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b="1" sz="1300" i="0">
                <a:solidFill>
                  <a:srgbClr val="6B757C"/>
                </a:solidFill>
                <a:latin typeface="Calibri"/>
              </a:rPr>
              <a:t>PHOTO</a:t>
            </a:r>
          </a:p>
          <a:p>
            <a:pPr algn="ctr"/>
            <a:r>
              <a:rPr b="0" sz="1000" i="0">
                <a:solidFill>
                  <a:srgbClr val="6B757C"/>
                </a:solidFill>
                <a:latin typeface="Calibri"/>
              </a:rPr>
              <a:t>04-inventory.jpg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351272"/>
            <a:ext cx="5577840" cy="820928"/>
          </a:xfrm>
          <a:prstGeom prst="roundRect">
            <a:avLst>
              <a:gd name="adj" fmla="val 6000"/>
            </a:avLst>
          </a:prstGeom>
          <a:solidFill>
            <a:srgbClr val="F2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488432"/>
            <a:ext cx="5212080" cy="546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1300" i="0">
                <a:solidFill>
                  <a:srgbClr val="E8A33D"/>
                </a:solidFill>
                <a:latin typeface="Calibri"/>
              </a:rPr>
              <a:t>CHECK  </a:t>
            </a:r>
            <a:r>
              <a:rPr b="0" sz="1500" i="0">
                <a:solidFill>
                  <a:srgbClr val="2B3034"/>
                </a:solidFill>
                <a:latin typeface="Calibri"/>
              </a:rPr>
              <a:t>both tracker flags cleared; ESC box contents written down.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691640"/>
            <a:ext cx="5577840" cy="264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1300" i="0">
                <a:solidFill>
                  <a:srgbClr val="E8A33D"/>
                </a:solidFill>
                <a:latin typeface="Calibri"/>
              </a:rPr>
              <a:t>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992376"/>
            <a:ext cx="557784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20"/>
              </a:spcAft>
            </a:pPr>
            <a:r>
              <a:rPr b="1" sz="1600" i="0">
                <a:solidFill>
                  <a:srgbClr val="E8A33D"/>
                </a:solidFill>
                <a:latin typeface="Calibri"/>
              </a:rPr>
              <a:t>1.  </a:t>
            </a:r>
            <a:r>
              <a:rPr b="0" sz="1600" i="0">
                <a:solidFill>
                  <a:srgbClr val="2B3034"/>
                </a:solidFill>
                <a:latin typeface="Calibri"/>
              </a:rPr>
              <a:t>Amazon bundle — confirm the </a:t>
            </a:r>
            <a:r>
              <a:rPr b="1" sz="1600" i="0">
                <a:solidFill>
                  <a:srgbClr val="2B3034"/>
                </a:solidFill>
                <a:latin typeface="Calibri"/>
              </a:rPr>
              <a:t>M3 screw assortment</a:t>
            </a:r>
            <a:r>
              <a:rPr b="0" sz="1600" i="0">
                <a:solidFill>
                  <a:srgbClr val="2B3034"/>
                </a:solidFill>
                <a:latin typeface="Calibri"/>
              </a:rPr>
              <a:t> and the </a:t>
            </a:r>
            <a:r>
              <a:rPr b="1" sz="1600" i="0">
                <a:solidFill>
                  <a:srgbClr val="2B3034"/>
                </a:solidFill>
                <a:latin typeface="Calibri"/>
              </a:rPr>
              <a:t>safety glasses</a:t>
            </a:r>
            <a:r>
              <a:rPr b="0" sz="1600" i="0">
                <a:solidFill>
                  <a:srgbClr val="2B3034"/>
                </a:solidFill>
                <a:latin typeface="Calibri"/>
              </a:rPr>
              <a:t> are present.</a:t>
            </a:r>
          </a:p>
          <a:p>
            <a:pPr>
              <a:spcAft>
                <a:spcPts val="720"/>
              </a:spcAft>
            </a:pPr>
            <a:r>
              <a:rPr b="1" sz="1600" i="0">
                <a:solidFill>
                  <a:srgbClr val="E8A33D"/>
                </a:solidFill>
                <a:latin typeface="Calibri"/>
              </a:rPr>
              <a:t>2.  </a:t>
            </a:r>
            <a:r>
              <a:rPr b="0" sz="1600" i="0">
                <a:solidFill>
                  <a:srgbClr val="2B3034"/>
                </a:solidFill>
                <a:latin typeface="Calibri"/>
              </a:rPr>
              <a:t>ESC box — note whether a </a:t>
            </a:r>
            <a:r>
              <a:rPr b="1" sz="1600" i="0">
                <a:solidFill>
                  <a:srgbClr val="2B3034"/>
                </a:solidFill>
                <a:latin typeface="Calibri"/>
              </a:rPr>
              <a:t>capacitor</a:t>
            </a:r>
            <a:r>
              <a:rPr b="0" sz="1600" i="0">
                <a:solidFill>
                  <a:srgbClr val="2B3034"/>
                </a:solidFill>
                <a:latin typeface="Calibri"/>
              </a:rPr>
              <a:t> and/or </a:t>
            </a:r>
            <a:r>
              <a:rPr b="1" sz="1600" i="0">
                <a:solidFill>
                  <a:srgbClr val="2B3034"/>
                </a:solidFill>
                <a:latin typeface="Calibri"/>
              </a:rPr>
              <a:t>XT60 lead</a:t>
            </a:r>
            <a:r>
              <a:rPr b="0" sz="1600" i="0">
                <a:solidFill>
                  <a:srgbClr val="2B3034"/>
                </a:solidFill>
                <a:latin typeface="Calibri"/>
              </a:rPr>
              <a:t> is included. The better part goes on the aircraft; the other becomes the spare.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355080"/>
            <a:ext cx="8229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b="0" sz="1000" i="0">
                <a:solidFill>
                  <a:srgbClr val="6B757C"/>
                </a:solidFill>
                <a:latin typeface="Calibri"/>
              </a:rPr>
              <a:t>WI-01 · Bench setup, frame assembly, motor mounting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79" y="6355080"/>
            <a:ext cx="4114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b="0" sz="1000" i="0">
                <a:solidFill>
                  <a:srgbClr val="6B757C"/>
                </a:solidFill>
                <a:latin typeface="Calibri"/>
              </a:rPr>
              <a:t>4 /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2000" i="0">
                <a:solidFill>
                  <a:srgbClr val="1F2326"/>
                </a:solidFill>
                <a:latin typeface="Calibri"/>
              </a:rPr>
              <a:t>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25880" y="384048"/>
            <a:ext cx="1024128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b="1" sz="3000" i="0">
                <a:solidFill>
                  <a:srgbClr val="1F2326"/>
                </a:solidFill>
                <a:latin typeface="Calibri"/>
              </a:rPr>
              <a:t>Battery storage-voltage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11887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1100" i="0">
                <a:solidFill>
                  <a:srgbClr val="6B757C"/>
                </a:solidFill>
                <a:latin typeface="Calibri"/>
              </a:rPr>
              <a:t>OP 20 · 5 MIN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212080" y="1691640"/>
            <a:ext cx="6446520" cy="4343400"/>
          </a:xfrm>
          <a:prstGeom prst="roundRect">
            <a:avLst>
              <a:gd name="adj" fmla="val 6000"/>
            </a:avLst>
          </a:prstGeom>
          <a:solidFill>
            <a:srgbClr val="F2F3F4"/>
          </a:solidFill>
          <a:ln w="9525">
            <a:solidFill>
              <a:srgbClr val="E3E5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5a-battery-voltage-che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1808" y="1818132"/>
            <a:ext cx="3067812" cy="4090416"/>
          </a:xfrm>
          <a:prstGeom prst="rect">
            <a:avLst/>
          </a:prstGeom>
        </p:spPr>
      </p:pic>
      <p:pic>
        <p:nvPicPr>
          <p:cNvPr id="7" name="Picture 6" descr="05b-battery-back-in-ba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1060" y="1818132"/>
            <a:ext cx="3067812" cy="4090416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48640" y="4558792"/>
            <a:ext cx="4297680" cy="1613408"/>
          </a:xfrm>
          <a:prstGeom prst="roundRect">
            <a:avLst>
              <a:gd name="adj" fmla="val 6000"/>
            </a:avLst>
          </a:prstGeom>
          <a:solidFill>
            <a:srgbClr val="F2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695952"/>
            <a:ext cx="3931920" cy="13390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1300" i="0">
                <a:solidFill>
                  <a:srgbClr val="E8A33D"/>
                </a:solidFill>
                <a:latin typeface="Calibri"/>
              </a:rPr>
              <a:t>CHECK  </a:t>
            </a:r>
            <a:r>
              <a:rPr b="1" sz="1500" i="0">
                <a:solidFill>
                  <a:srgbClr val="2B3034"/>
                </a:solidFill>
                <a:latin typeface="Calibri"/>
              </a:rPr>
              <a:t>~22.2–22.8 V</a:t>
            </a:r>
            <a:r>
              <a:rPr b="0" sz="1500" i="0">
                <a:solidFill>
                  <a:srgbClr val="2B3034"/>
                </a:solidFill>
                <a:latin typeface="Calibri"/>
              </a:rPr>
              <a:t> for a 6S pack at storage charge (3.7–3.8 V per cell). Anything far outside that range is a question for the charger, not the bench.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691640"/>
            <a:ext cx="4297680" cy="264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1300" i="0">
                <a:solidFill>
                  <a:srgbClr val="E8A33D"/>
                </a:solidFill>
                <a:latin typeface="Calibri"/>
              </a:rPr>
              <a:t>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992376"/>
            <a:ext cx="429768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20"/>
              </a:spcAft>
            </a:pPr>
            <a:r>
              <a:rPr b="1" sz="1600" i="0">
                <a:solidFill>
                  <a:srgbClr val="E8A33D"/>
                </a:solidFill>
                <a:latin typeface="Calibri"/>
              </a:rPr>
              <a:t>1.  </a:t>
            </a:r>
            <a:r>
              <a:rPr b="0" sz="1600" i="0">
                <a:solidFill>
                  <a:srgbClr val="2B3034"/>
                </a:solidFill>
                <a:latin typeface="Calibri"/>
              </a:rPr>
              <a:t>Multimeter on DC volts.</a:t>
            </a:r>
          </a:p>
          <a:p>
            <a:pPr>
              <a:spcAft>
                <a:spcPts val="720"/>
              </a:spcAft>
            </a:pPr>
            <a:r>
              <a:rPr b="1" sz="1600" i="0">
                <a:solidFill>
                  <a:srgbClr val="E8A33D"/>
                </a:solidFill>
                <a:latin typeface="Calibri"/>
              </a:rPr>
              <a:t>2.  </a:t>
            </a:r>
            <a:r>
              <a:rPr b="0" sz="1600" i="0">
                <a:solidFill>
                  <a:srgbClr val="2B3034"/>
                </a:solidFill>
                <a:latin typeface="Calibri"/>
              </a:rPr>
              <a:t>Measure pack voltage at the XT60 — red probe to the + pin, black to −.</a:t>
            </a:r>
          </a:p>
          <a:p>
            <a:pPr>
              <a:spcAft>
                <a:spcPts val="720"/>
              </a:spcAft>
            </a:pPr>
            <a:r>
              <a:rPr b="1" sz="1600" i="0">
                <a:solidFill>
                  <a:srgbClr val="E8A33D"/>
                </a:solidFill>
                <a:latin typeface="Calibri"/>
              </a:rPr>
              <a:t>3.  </a:t>
            </a:r>
            <a:r>
              <a:rPr b="0" sz="1600" i="0">
                <a:solidFill>
                  <a:srgbClr val="2B3034"/>
                </a:solidFill>
                <a:latin typeface="Calibri"/>
              </a:rPr>
              <a:t>Straight back into the LiPo bag.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355080"/>
            <a:ext cx="8229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b="0" sz="1000" i="0">
                <a:solidFill>
                  <a:srgbClr val="6B757C"/>
                </a:solidFill>
                <a:latin typeface="Calibri"/>
              </a:rPr>
              <a:t>WI-01 · Bench setup, frame assembly, motor mounting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79" y="6355080"/>
            <a:ext cx="4114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b="0" sz="1000" i="0">
                <a:solidFill>
                  <a:srgbClr val="6B757C"/>
                </a:solidFill>
                <a:latin typeface="Calibri"/>
              </a:rPr>
              <a:t>5 / 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2000" i="0">
                <a:solidFill>
                  <a:srgbClr val="1F2326"/>
                </a:solidFill>
                <a:latin typeface="Calibri"/>
              </a:rPr>
              <a:t>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25880" y="384048"/>
            <a:ext cx="1024128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b="1" sz="3000" i="0">
                <a:solidFill>
                  <a:srgbClr val="1F2326"/>
                </a:solidFill>
                <a:latin typeface="Calibri"/>
              </a:rPr>
              <a:t>Lay out the frame kit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11887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1100" i="0">
                <a:solidFill>
                  <a:srgbClr val="6B757C"/>
                </a:solidFill>
                <a:latin typeface="Calibri"/>
              </a:rPr>
              <a:t>OP 30 · 10 MIN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92240" y="1691640"/>
            <a:ext cx="5166360" cy="4343400"/>
          </a:xfrm>
          <a:prstGeom prst="roundRect">
            <a:avLst>
              <a:gd name="adj" fmla="val 6000"/>
            </a:avLst>
          </a:prstGeom>
          <a:solidFill>
            <a:srgbClr val="F2F3F4"/>
          </a:solidFill>
          <a:ln w="9525">
            <a:solidFill>
              <a:srgbClr val="E3E5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01968" y="1691640"/>
            <a:ext cx="4946904" cy="4343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b="1" sz="1300" i="0">
                <a:solidFill>
                  <a:srgbClr val="6B757C"/>
                </a:solidFill>
                <a:latin typeface="Calibri"/>
              </a:rPr>
              <a:t>PHOTO</a:t>
            </a:r>
          </a:p>
          <a:p>
            <a:pPr algn="ctr"/>
            <a:r>
              <a:rPr b="0" sz="1000" i="0">
                <a:solidFill>
                  <a:srgbClr val="6B757C"/>
                </a:solidFill>
                <a:latin typeface="Calibri"/>
              </a:rPr>
              <a:t>06-frame-kit-layout.jpg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351272"/>
            <a:ext cx="5577840" cy="820928"/>
          </a:xfrm>
          <a:prstGeom prst="roundRect">
            <a:avLst>
              <a:gd name="adj" fmla="val 6000"/>
            </a:avLst>
          </a:prstGeom>
          <a:solidFill>
            <a:srgbClr val="F2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488432"/>
            <a:ext cx="5212080" cy="546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1300" i="0">
                <a:solidFill>
                  <a:srgbClr val="E8A33D"/>
                </a:solidFill>
                <a:latin typeface="Calibri"/>
              </a:rPr>
              <a:t>CHECK  </a:t>
            </a:r>
            <a:r>
              <a:rPr b="0" sz="1500" i="0">
                <a:solidFill>
                  <a:srgbClr val="2B3034"/>
                </a:solidFill>
                <a:latin typeface="Calibri"/>
              </a:rPr>
              <a:t>everything on the kit sheet is present and sorted before a single screw is driven.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691640"/>
            <a:ext cx="5577840" cy="264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1300" i="0">
                <a:solidFill>
                  <a:srgbClr val="E8A33D"/>
                </a:solidFill>
                <a:latin typeface="Calibri"/>
              </a:rPr>
              <a:t>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992376"/>
            <a:ext cx="557784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20"/>
              </a:spcAft>
            </a:pPr>
            <a:r>
              <a:rPr b="1" sz="1600" i="0">
                <a:solidFill>
                  <a:srgbClr val="E8A33D"/>
                </a:solidFill>
                <a:latin typeface="Calibri"/>
              </a:rPr>
              <a:t>1.  </a:t>
            </a:r>
            <a:r>
              <a:rPr b="0" sz="1600" i="0">
                <a:solidFill>
                  <a:srgbClr val="2B3034"/>
                </a:solidFill>
                <a:latin typeface="Calibri"/>
              </a:rPr>
              <a:t>Lay out every Source One V6 plate, arm, standoff, and bag of hardware against the kit sheet.</a:t>
            </a:r>
          </a:p>
          <a:p>
            <a:pPr>
              <a:spcAft>
                <a:spcPts val="720"/>
              </a:spcAft>
            </a:pPr>
            <a:r>
              <a:rPr b="1" sz="1600" i="0">
                <a:solidFill>
                  <a:srgbClr val="E8A33D"/>
                </a:solidFill>
                <a:latin typeface="Calibri"/>
              </a:rPr>
              <a:t>2.  </a:t>
            </a:r>
            <a:r>
              <a:rPr b="0" sz="1600" i="0">
                <a:solidFill>
                  <a:srgbClr val="2B3034"/>
                </a:solidFill>
                <a:latin typeface="Calibri"/>
              </a:rPr>
              <a:t>Sort the hardware by length. The kit's </a:t>
            </a:r>
            <a:r>
              <a:rPr b="1" sz="1600" i="0">
                <a:solidFill>
                  <a:srgbClr val="2B3034"/>
                </a:solidFill>
                <a:latin typeface="Calibri"/>
              </a:rPr>
              <a:t>M3×10 / 12 / 14 screws are standoff hardware — they are not motor screws.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355080"/>
            <a:ext cx="8229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b="0" sz="1000" i="0">
                <a:solidFill>
                  <a:srgbClr val="6B757C"/>
                </a:solidFill>
                <a:latin typeface="Calibri"/>
              </a:rPr>
              <a:t>WI-01 · Bench setup, frame assembly, motor mounting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79" y="6355080"/>
            <a:ext cx="4114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b="0" sz="1000" i="0">
                <a:solidFill>
                  <a:srgbClr val="6B757C"/>
                </a:solidFill>
                <a:latin typeface="Calibri"/>
              </a:rPr>
              <a:t>6 / 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2000" i="0">
                <a:solidFill>
                  <a:srgbClr val="1F2326"/>
                </a:solidFill>
                <a:latin typeface="Calibri"/>
              </a:rPr>
              <a:t>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25880" y="384048"/>
            <a:ext cx="1024128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b="1" sz="3000" i="0">
                <a:solidFill>
                  <a:srgbClr val="1F2326"/>
                </a:solidFill>
                <a:latin typeface="Calibri"/>
              </a:rPr>
              <a:t>Bottom plate, arms, standoffs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11887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1100" i="0">
                <a:solidFill>
                  <a:srgbClr val="6B757C"/>
                </a:solidFill>
                <a:latin typeface="Calibri"/>
              </a:rPr>
              <a:t>OP 30 · 30 MIN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92240" y="1691640"/>
            <a:ext cx="5166360" cy="4343400"/>
          </a:xfrm>
          <a:prstGeom prst="roundRect">
            <a:avLst>
              <a:gd name="adj" fmla="val 6000"/>
            </a:avLst>
          </a:prstGeom>
          <a:solidFill>
            <a:srgbClr val="F2F3F4"/>
          </a:solidFill>
          <a:ln w="9525">
            <a:solidFill>
              <a:srgbClr val="E3E5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7-frame-assemble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8941" y="1801368"/>
            <a:ext cx="3092958" cy="4123944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48640" y="5351272"/>
            <a:ext cx="5577840" cy="820928"/>
          </a:xfrm>
          <a:prstGeom prst="roundRect">
            <a:avLst>
              <a:gd name="adj" fmla="val 6000"/>
            </a:avLst>
          </a:prstGeom>
          <a:solidFill>
            <a:srgbClr val="F2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488432"/>
            <a:ext cx="5212080" cy="546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1300" i="0">
                <a:solidFill>
                  <a:srgbClr val="E8A33D"/>
                </a:solidFill>
                <a:latin typeface="Calibri"/>
              </a:rPr>
              <a:t>CHECK  </a:t>
            </a:r>
            <a:r>
              <a:rPr b="0" sz="1500" i="0">
                <a:solidFill>
                  <a:srgbClr val="2B3034"/>
                </a:solidFill>
                <a:latin typeface="Calibri"/>
              </a:rPr>
              <a:t>every frame bolt has Loctite and is snug; no bolt bottomed out.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691640"/>
            <a:ext cx="5577840" cy="264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1300" i="0">
                <a:solidFill>
                  <a:srgbClr val="E8A33D"/>
                </a:solidFill>
                <a:latin typeface="Calibri"/>
              </a:rPr>
              <a:t>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992376"/>
            <a:ext cx="557784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20"/>
              </a:spcAft>
            </a:pPr>
            <a:r>
              <a:rPr b="1" sz="1600" i="0">
                <a:solidFill>
                  <a:srgbClr val="E8A33D"/>
                </a:solidFill>
                <a:latin typeface="Calibri"/>
              </a:rPr>
              <a:t>1.  </a:t>
            </a:r>
            <a:r>
              <a:rPr b="0" sz="1600" i="0">
                <a:solidFill>
                  <a:srgbClr val="2B3034"/>
                </a:solidFill>
                <a:latin typeface="Calibri"/>
              </a:rPr>
              <a:t>Bottom plate first, then the four arms, then the standoffs.</a:t>
            </a:r>
          </a:p>
          <a:p>
            <a:pPr>
              <a:spcAft>
                <a:spcPts val="720"/>
              </a:spcAft>
            </a:pPr>
            <a:r>
              <a:rPr b="1" sz="1600" i="0">
                <a:solidFill>
                  <a:srgbClr val="E8A33D"/>
                </a:solidFill>
                <a:latin typeface="Calibri"/>
              </a:rPr>
              <a:t>2.  </a:t>
            </a:r>
            <a:r>
              <a:rPr b="1" sz="1600" i="0">
                <a:solidFill>
                  <a:srgbClr val="2B3034"/>
                </a:solidFill>
                <a:latin typeface="Calibri"/>
              </a:rPr>
              <a:t>One drop of blue Loctite</a:t>
            </a:r>
            <a:r>
              <a:rPr b="0" sz="1600" i="0">
                <a:solidFill>
                  <a:srgbClr val="2B3034"/>
                </a:solidFill>
                <a:latin typeface="Calibri"/>
              </a:rPr>
              <a:t> on each frame bolt.</a:t>
            </a:r>
          </a:p>
          <a:p>
            <a:pPr>
              <a:spcAft>
                <a:spcPts val="720"/>
              </a:spcAft>
            </a:pPr>
            <a:r>
              <a:rPr b="1" sz="1600" i="0">
                <a:solidFill>
                  <a:srgbClr val="E8A33D"/>
                </a:solidFill>
                <a:latin typeface="Calibri"/>
              </a:rPr>
              <a:t>3.  </a:t>
            </a:r>
            <a:r>
              <a:rPr b="1" sz="1600" i="0">
                <a:solidFill>
                  <a:srgbClr val="2B3034"/>
                </a:solidFill>
                <a:latin typeface="Calibri"/>
              </a:rPr>
              <a:t>Snug, not gorilla-tight.</a:t>
            </a:r>
            <a:r>
              <a:rPr b="0" sz="1600" i="0">
                <a:solidFill>
                  <a:srgbClr val="2B3034"/>
                </a:solidFill>
                <a:latin typeface="Calibri"/>
              </a:rPr>
              <a:t> Carbon fibre crushes under an over-torqued bolt and there is no undoing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355080"/>
            <a:ext cx="8229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b="0" sz="1000" i="0">
                <a:solidFill>
                  <a:srgbClr val="6B757C"/>
                </a:solidFill>
                <a:latin typeface="Calibri"/>
              </a:rPr>
              <a:t>WI-01 · Bench setup, frame assembly, motor mounting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79" y="6355080"/>
            <a:ext cx="4114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b="0" sz="1000" i="0">
                <a:solidFill>
                  <a:srgbClr val="6B757C"/>
                </a:solidFill>
                <a:latin typeface="Calibri"/>
              </a:rPr>
              <a:t>7 / 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2000" i="0">
                <a:solidFill>
                  <a:srgbClr val="1F2326"/>
                </a:solidFill>
                <a:latin typeface="Calibri"/>
              </a:rPr>
              <a:t>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25880" y="384048"/>
            <a:ext cx="1024128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b="1" sz="3000" i="0">
                <a:solidFill>
                  <a:srgbClr val="1F2326"/>
                </a:solidFill>
                <a:latin typeface="Calibri"/>
              </a:rPr>
              <a:t>Frame check: flat and square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11887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1100" i="0">
                <a:solidFill>
                  <a:srgbClr val="6B757C"/>
                </a:solidFill>
                <a:latin typeface="Calibri"/>
              </a:rPr>
              <a:t>OP 30 · 5 MIN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92240" y="1691640"/>
            <a:ext cx="5166360" cy="4343400"/>
          </a:xfrm>
          <a:prstGeom prst="roundRect">
            <a:avLst>
              <a:gd name="adj" fmla="val 6000"/>
            </a:avLst>
          </a:prstGeom>
          <a:solidFill>
            <a:srgbClr val="F2F3F4"/>
          </a:solidFill>
          <a:ln w="9525">
            <a:solidFill>
              <a:srgbClr val="E3E5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01968" y="1691640"/>
            <a:ext cx="4946904" cy="4343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b="1" sz="1300" i="0">
                <a:solidFill>
                  <a:srgbClr val="6B757C"/>
                </a:solidFill>
                <a:latin typeface="Calibri"/>
              </a:rPr>
              <a:t>PHOTO</a:t>
            </a:r>
          </a:p>
          <a:p>
            <a:pPr algn="ctr"/>
            <a:r>
              <a:rPr b="0" sz="1000" i="0">
                <a:solidFill>
                  <a:srgbClr val="6B757C"/>
                </a:solidFill>
                <a:latin typeface="Calibri"/>
              </a:rPr>
              <a:t>08-frame-flat-check.jpg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087112"/>
            <a:ext cx="5577840" cy="1085088"/>
          </a:xfrm>
          <a:prstGeom prst="roundRect">
            <a:avLst>
              <a:gd name="adj" fmla="val 6000"/>
            </a:avLst>
          </a:prstGeom>
          <a:solidFill>
            <a:srgbClr val="F2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224272"/>
            <a:ext cx="5212080" cy="810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1300" i="0">
                <a:solidFill>
                  <a:srgbClr val="E8A33D"/>
                </a:solidFill>
                <a:latin typeface="Calibri"/>
              </a:rPr>
              <a:t>CHECK  </a:t>
            </a:r>
            <a:r>
              <a:rPr b="0" sz="1500" i="0">
                <a:solidFill>
                  <a:srgbClr val="2B3034"/>
                </a:solidFill>
                <a:latin typeface="Calibri"/>
              </a:rPr>
              <a:t>no rock on any arm. Stack holes line up on the </a:t>
            </a:r>
            <a:r>
              <a:rPr b="1" sz="1500" i="0">
                <a:solidFill>
                  <a:srgbClr val="2B3034"/>
                </a:solidFill>
                <a:latin typeface="Calibri"/>
              </a:rPr>
              <a:t>30 × 30 mm</a:t>
            </a:r>
            <a:r>
              <a:rPr b="0" sz="1500" i="0">
                <a:solidFill>
                  <a:srgbClr val="2B3034"/>
                </a:solidFill>
                <a:latin typeface="Calibri"/>
              </a:rPr>
              <a:t> pattern — the FC and ESC both mount to 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691640"/>
            <a:ext cx="5577840" cy="264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1300" i="0">
                <a:solidFill>
                  <a:srgbClr val="E8A33D"/>
                </a:solidFill>
                <a:latin typeface="Calibri"/>
              </a:rPr>
              <a:t>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992376"/>
            <a:ext cx="557784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20"/>
              </a:spcAft>
            </a:pPr>
            <a:r>
              <a:rPr b="1" sz="1600" i="0">
                <a:solidFill>
                  <a:srgbClr val="E8A33D"/>
                </a:solidFill>
                <a:latin typeface="Calibri"/>
              </a:rPr>
              <a:t>1.  </a:t>
            </a:r>
            <a:r>
              <a:rPr b="0" sz="1600" i="0">
                <a:solidFill>
                  <a:srgbClr val="2B3034"/>
                </a:solidFill>
                <a:latin typeface="Calibri"/>
              </a:rPr>
              <a:t>Set the assembled frame on a flat surface and press each arm tip.</a:t>
            </a:r>
          </a:p>
          <a:p>
            <a:pPr>
              <a:spcAft>
                <a:spcPts val="720"/>
              </a:spcAft>
            </a:pPr>
            <a:r>
              <a:rPr b="1" sz="1600" i="0">
                <a:solidFill>
                  <a:srgbClr val="E8A33D"/>
                </a:solidFill>
                <a:latin typeface="Calibri"/>
              </a:rPr>
              <a:t>2.  </a:t>
            </a:r>
            <a:r>
              <a:rPr b="0" sz="1600" i="0">
                <a:solidFill>
                  <a:srgbClr val="2B3034"/>
                </a:solidFill>
                <a:latin typeface="Calibri"/>
              </a:rPr>
              <a:t>Sight down the stack holes.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355080"/>
            <a:ext cx="8229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b="0" sz="1000" i="0">
                <a:solidFill>
                  <a:srgbClr val="6B757C"/>
                </a:solidFill>
                <a:latin typeface="Calibri"/>
              </a:rPr>
              <a:t>WI-01 · Bench setup, frame assembly, motor mounting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79" y="6355080"/>
            <a:ext cx="4114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b="0" sz="1000" i="0">
                <a:solidFill>
                  <a:srgbClr val="6B757C"/>
                </a:solidFill>
                <a:latin typeface="Calibri"/>
              </a:rPr>
              <a:t>8 / 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2000" i="0">
                <a:solidFill>
                  <a:srgbClr val="1F2326"/>
                </a:solidFill>
                <a:latin typeface="Calibri"/>
              </a:rPr>
              <a:t>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25880" y="384048"/>
            <a:ext cx="1024128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b="1" sz="3000" i="0">
                <a:solidFill>
                  <a:srgbClr val="1F2326"/>
                </a:solidFill>
                <a:latin typeface="Calibri"/>
              </a:rPr>
              <a:t>Motor screw length — do the math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11887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1100" i="0">
                <a:solidFill>
                  <a:srgbClr val="6B757C"/>
                </a:solidFill>
                <a:latin typeface="Calibri"/>
              </a:rPr>
              <a:t>OP 40 · 10 MIN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92240" y="1691640"/>
            <a:ext cx="5166360" cy="4343400"/>
          </a:xfrm>
          <a:prstGeom prst="roundRect">
            <a:avLst>
              <a:gd name="adj" fmla="val 6000"/>
            </a:avLst>
          </a:prstGeom>
          <a:solidFill>
            <a:srgbClr val="F2F3F4"/>
          </a:solidFill>
          <a:ln w="9525">
            <a:solidFill>
              <a:srgbClr val="E3E5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01968" y="1691640"/>
            <a:ext cx="4946904" cy="4343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b="1" sz="1300" i="0">
                <a:solidFill>
                  <a:srgbClr val="6B757C"/>
                </a:solidFill>
                <a:latin typeface="Calibri"/>
              </a:rPr>
              <a:t>PHOTO</a:t>
            </a:r>
          </a:p>
          <a:p>
            <a:pPr algn="ctr"/>
            <a:r>
              <a:rPr b="0" sz="1000" i="0">
                <a:solidFill>
                  <a:srgbClr val="6B757C"/>
                </a:solidFill>
                <a:latin typeface="Calibri"/>
              </a:rPr>
              <a:t>09-screw-length-measure.jpg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186172"/>
            <a:ext cx="5577840" cy="986028"/>
          </a:xfrm>
          <a:prstGeom prst="roundRect">
            <a:avLst>
              <a:gd name="adj" fmla="val 6000"/>
            </a:avLst>
          </a:prstGeom>
          <a:solidFill>
            <a:srgbClr val="F2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323332"/>
            <a:ext cx="5212080" cy="7117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1100" i="0">
                <a:solidFill>
                  <a:srgbClr val="E8A33D"/>
                </a:solidFill>
                <a:latin typeface="Calibri"/>
              </a:rPr>
              <a:t>CHECK  </a:t>
            </a:r>
            <a:r>
              <a:rPr b="0" sz="1300" i="0">
                <a:solidFill>
                  <a:srgbClr val="2B3034"/>
                </a:solidFill>
                <a:latin typeface="Calibri"/>
              </a:rPr>
              <a:t>test-fit a screw through the arm into a motor by hand — the tip sits </a:t>
            </a:r>
            <a:r>
              <a:rPr b="1" sz="1300" i="0">
                <a:solidFill>
                  <a:srgbClr val="2B3034"/>
                </a:solidFill>
                <a:latin typeface="Calibri"/>
              </a:rPr>
              <a:t>at least 1 mm short</a:t>
            </a:r>
            <a:r>
              <a:rPr b="0" sz="1300" i="0">
                <a:solidFill>
                  <a:srgbClr val="2B3034"/>
                </a:solidFill>
                <a:latin typeface="Calibri"/>
              </a:rPr>
              <a:t> of the hole bottom.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691640"/>
            <a:ext cx="5577840" cy="986028"/>
          </a:xfrm>
          <a:prstGeom prst="roundRect">
            <a:avLst>
              <a:gd name="adj" fmla="val 6000"/>
            </a:avLst>
          </a:prstGeom>
          <a:solidFill>
            <a:srgbClr val="FDF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828800"/>
            <a:ext cx="5212080" cy="7117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1100" i="0">
                <a:solidFill>
                  <a:srgbClr val="E8A33D"/>
                </a:solidFill>
                <a:latin typeface="Calibri"/>
              </a:rPr>
              <a:t>CAUTION  </a:t>
            </a:r>
            <a:r>
              <a:rPr b="1" sz="1300" i="0">
                <a:solidFill>
                  <a:srgbClr val="2B3034"/>
                </a:solidFill>
                <a:latin typeface="Calibri"/>
              </a:rPr>
              <a:t>Wrong screw length is the #1 motor killer. A screw that reaches the windings shorts the motor the first time it spins. Do the math before driving any screw.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842260"/>
            <a:ext cx="5577840" cy="2311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1100" i="0">
                <a:solidFill>
                  <a:srgbClr val="E8A33D"/>
                </a:solidFill>
                <a:latin typeface="Calibri"/>
              </a:rPr>
              <a:t>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109976"/>
            <a:ext cx="557784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30"/>
              </a:spcAft>
            </a:pPr>
            <a:r>
              <a:rPr b="1" sz="1400" i="0">
                <a:solidFill>
                  <a:srgbClr val="E8A33D"/>
                </a:solidFill>
                <a:latin typeface="Calibri"/>
              </a:rPr>
              <a:t>1.  </a:t>
            </a:r>
            <a:r>
              <a:rPr b="0" sz="1400" i="0">
                <a:solidFill>
                  <a:srgbClr val="2B3034"/>
                </a:solidFill>
                <a:latin typeface="Calibri"/>
              </a:rPr>
              <a:t>Measure arm thickness — calipers, or the edge of the multimeter case (~6 mm).</a:t>
            </a:r>
          </a:p>
          <a:p>
            <a:pPr>
              <a:spcAft>
                <a:spcPts val="630"/>
              </a:spcAft>
            </a:pPr>
            <a:r>
              <a:rPr b="1" sz="1400" i="0">
                <a:solidFill>
                  <a:srgbClr val="E8A33D"/>
                </a:solidFill>
                <a:latin typeface="Calibri"/>
              </a:rPr>
              <a:t>2.  </a:t>
            </a:r>
            <a:r>
              <a:rPr b="0" sz="1400" i="0">
                <a:solidFill>
                  <a:srgbClr val="2B3034"/>
                </a:solidFill>
                <a:latin typeface="Calibri"/>
              </a:rPr>
              <a:t>Measure the motor's blind-hole depth.</a:t>
            </a:r>
          </a:p>
          <a:p>
            <a:pPr>
              <a:spcAft>
                <a:spcPts val="630"/>
              </a:spcAft>
            </a:pPr>
            <a:r>
              <a:rPr b="1" sz="1400" i="0">
                <a:solidFill>
                  <a:srgbClr val="E8A33D"/>
                </a:solidFill>
                <a:latin typeface="Calibri"/>
              </a:rPr>
              <a:t>3.  </a:t>
            </a:r>
            <a:r>
              <a:rPr b="0" sz="1400" i="0">
                <a:solidFill>
                  <a:srgbClr val="2B3034"/>
                </a:solidFill>
                <a:latin typeface="Calibri"/>
              </a:rPr>
              <a:t>Target thread into the motor = </a:t>
            </a:r>
            <a:r>
              <a:rPr b="1" sz="1400" i="0">
                <a:solidFill>
                  <a:srgbClr val="2B3034"/>
                </a:solidFill>
                <a:latin typeface="Calibri"/>
              </a:rPr>
              <a:t>arm + ~5 mm</a:t>
            </a:r>
            <a:r>
              <a:rPr b="0" sz="1400" i="0">
                <a:solidFill>
                  <a:srgbClr val="2B3034"/>
                </a:solidFill>
                <a:latin typeface="Calibri"/>
              </a:rPr>
              <a:t>. Pick screws from the assortment to match.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355080"/>
            <a:ext cx="8229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b="0" sz="1000" i="0">
                <a:solidFill>
                  <a:srgbClr val="6B757C"/>
                </a:solidFill>
                <a:latin typeface="Calibri"/>
              </a:rPr>
              <a:t>WI-01 · Bench setup, frame assembly, motor mounting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79" y="6355080"/>
            <a:ext cx="4114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b="0" sz="1000" i="0">
                <a:solidFill>
                  <a:srgbClr val="6B757C"/>
                </a:solidFill>
                <a:latin typeface="Calibri"/>
              </a:rPr>
              <a:t>9 / 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2000" i="0">
                <a:solidFill>
                  <a:srgbClr val="1F2326"/>
                </a:solidFill>
                <a:latin typeface="Calibri"/>
              </a:rP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25880" y="384048"/>
            <a:ext cx="1024128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b="1" sz="3000" i="0">
                <a:solidFill>
                  <a:srgbClr val="1F2326"/>
                </a:solidFill>
                <a:latin typeface="Calibri"/>
              </a:rPr>
              <a:t>Loctite: dab, dip, drive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11887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1100" i="0">
                <a:solidFill>
                  <a:srgbClr val="6B757C"/>
                </a:solidFill>
                <a:latin typeface="Calibri"/>
              </a:rPr>
              <a:t>OP 40 · 5 MIN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212080" y="1691640"/>
            <a:ext cx="6446520" cy="4343400"/>
          </a:xfrm>
          <a:prstGeom prst="roundRect">
            <a:avLst>
              <a:gd name="adj" fmla="val 6000"/>
            </a:avLst>
          </a:prstGeom>
          <a:solidFill>
            <a:srgbClr val="F2F3F4"/>
          </a:solidFill>
          <a:ln w="9525">
            <a:solidFill>
              <a:srgbClr val="E3E5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10a-loctite-dab-on-towe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1808" y="2520188"/>
            <a:ext cx="2014728" cy="2686304"/>
          </a:xfrm>
          <a:prstGeom prst="rect">
            <a:avLst/>
          </a:prstGeom>
        </p:spPr>
      </p:pic>
      <p:pic>
        <p:nvPicPr>
          <p:cNvPr id="7" name="Picture 6" descr="10b-loctite-dip-screw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7976" y="2520188"/>
            <a:ext cx="2014728" cy="2686304"/>
          </a:xfrm>
          <a:prstGeom prst="rect">
            <a:avLst/>
          </a:prstGeom>
        </p:spPr>
      </p:pic>
      <p:pic>
        <p:nvPicPr>
          <p:cNvPr id="8" name="Picture 7" descr="10c-loctite-on-screw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34144" y="2520188"/>
            <a:ext cx="2014728" cy="2686304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48640" y="5417312"/>
            <a:ext cx="4297680" cy="754888"/>
          </a:xfrm>
          <a:prstGeom prst="roundRect">
            <a:avLst>
              <a:gd name="adj" fmla="val 6000"/>
            </a:avLst>
          </a:prstGeom>
          <a:solidFill>
            <a:srgbClr val="F2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5554472"/>
            <a:ext cx="3931920" cy="4805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1100" i="0">
                <a:solidFill>
                  <a:srgbClr val="E8A33D"/>
                </a:solidFill>
                <a:latin typeface="Calibri"/>
              </a:rPr>
              <a:t>CHECK  </a:t>
            </a:r>
            <a:r>
              <a:rPr b="0" sz="1300" i="0">
                <a:solidFill>
                  <a:srgbClr val="2B3034"/>
                </a:solidFill>
                <a:latin typeface="Calibri"/>
              </a:rPr>
              <a:t>blue on the threads only, none on the screw head or the carbon.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691640"/>
            <a:ext cx="4297680" cy="553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0" sz="1400" i="0">
                <a:solidFill>
                  <a:srgbClr val="6B757C"/>
                </a:solidFill>
                <a:latin typeface="Calibri"/>
              </a:rPr>
              <a:t>The bottle nozzle puts far too much on a screw this small. Dab, then dip.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318512"/>
            <a:ext cx="4297680" cy="2311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1100" i="0">
                <a:solidFill>
                  <a:srgbClr val="E8A33D"/>
                </a:solidFill>
                <a:latin typeface="Calibri"/>
              </a:rPr>
              <a:t>DO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586228"/>
            <a:ext cx="429768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30"/>
              </a:spcAft>
            </a:pPr>
            <a:r>
              <a:rPr b="1" sz="1400" i="0">
                <a:solidFill>
                  <a:srgbClr val="E8A33D"/>
                </a:solidFill>
                <a:latin typeface="Calibri"/>
              </a:rPr>
              <a:t>1.  </a:t>
            </a:r>
            <a:r>
              <a:rPr b="0" sz="1400" i="0">
                <a:solidFill>
                  <a:srgbClr val="2B3034"/>
                </a:solidFill>
                <a:latin typeface="Calibri"/>
              </a:rPr>
              <a:t>Squeeze </a:t>
            </a:r>
            <a:r>
              <a:rPr b="1" sz="1400" i="0">
                <a:solidFill>
                  <a:srgbClr val="2B3034"/>
                </a:solidFill>
                <a:latin typeface="Calibri"/>
              </a:rPr>
              <a:t>one drop</a:t>
            </a:r>
            <a:r>
              <a:rPr b="0" sz="1400" i="0">
                <a:solidFill>
                  <a:srgbClr val="2B3034"/>
                </a:solidFill>
                <a:latin typeface="Calibri"/>
              </a:rPr>
              <a:t> of blue Loctite 243 onto a paper towel.</a:t>
            </a:r>
          </a:p>
          <a:p>
            <a:pPr>
              <a:spcAft>
                <a:spcPts val="630"/>
              </a:spcAft>
            </a:pPr>
            <a:r>
              <a:rPr b="1" sz="1400" i="0">
                <a:solidFill>
                  <a:srgbClr val="E8A33D"/>
                </a:solidFill>
                <a:latin typeface="Calibri"/>
              </a:rPr>
              <a:t>2.  </a:t>
            </a:r>
            <a:r>
              <a:rPr b="0" sz="1400" i="0">
                <a:solidFill>
                  <a:srgbClr val="2B3034"/>
                </a:solidFill>
                <a:latin typeface="Calibri"/>
              </a:rPr>
              <a:t>Touch each screw's threads into the drop — a thin film, not a coating.</a:t>
            </a:r>
          </a:p>
          <a:p>
            <a:pPr>
              <a:spcAft>
                <a:spcPts val="630"/>
              </a:spcAft>
            </a:pPr>
            <a:r>
              <a:rPr b="1" sz="1400" i="0">
                <a:solidFill>
                  <a:srgbClr val="E8A33D"/>
                </a:solidFill>
                <a:latin typeface="Calibri"/>
              </a:rPr>
              <a:t>3.  </a:t>
            </a:r>
            <a:r>
              <a:rPr b="0" sz="1400" i="0">
                <a:solidFill>
                  <a:srgbClr val="2B3034"/>
                </a:solidFill>
                <a:latin typeface="Calibri"/>
              </a:rPr>
              <a:t>Drive it within a minute or two, before it starts to set.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355080"/>
            <a:ext cx="8229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b="0" sz="1000" i="0">
                <a:solidFill>
                  <a:srgbClr val="6B757C"/>
                </a:solidFill>
                <a:latin typeface="Calibri"/>
              </a:rPr>
              <a:t>WI-01 · Bench setup, frame assembly, motor mounting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79" y="6355080"/>
            <a:ext cx="4114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b="0" sz="1000" i="0">
                <a:solidFill>
                  <a:srgbClr val="6B757C"/>
                </a:solidFill>
                <a:latin typeface="Calibri"/>
              </a:rPr>
              <a:t>10 / 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2000" i="0">
                <a:solidFill>
                  <a:srgbClr val="1F2326"/>
                </a:solidFill>
                <a:latin typeface="Calibri"/>
              </a:rPr>
              <a:t>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25880" y="384048"/>
            <a:ext cx="1024128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b="1" sz="3000" i="0">
                <a:solidFill>
                  <a:srgbClr val="1F2326"/>
                </a:solidFill>
                <a:latin typeface="Calibri"/>
              </a:rPr>
              <a:t>Seat the motor on the arm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11887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1100" i="0">
                <a:solidFill>
                  <a:srgbClr val="6B757C"/>
                </a:solidFill>
                <a:latin typeface="Calibri"/>
              </a:rPr>
              <a:t>OP 40 · 10 MIN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92240" y="1691640"/>
            <a:ext cx="5166360" cy="4343400"/>
          </a:xfrm>
          <a:prstGeom prst="roundRect">
            <a:avLst>
              <a:gd name="adj" fmla="val 6000"/>
            </a:avLst>
          </a:prstGeom>
          <a:solidFill>
            <a:srgbClr val="F2F3F4"/>
          </a:solidFill>
          <a:ln w="9525">
            <a:solidFill>
              <a:srgbClr val="E3E5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11-motor-seated-on-ar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8941" y="1801368"/>
            <a:ext cx="3092958" cy="4123944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48640" y="5087112"/>
            <a:ext cx="5577840" cy="1085088"/>
          </a:xfrm>
          <a:prstGeom prst="roundRect">
            <a:avLst>
              <a:gd name="adj" fmla="val 6000"/>
            </a:avLst>
          </a:prstGeom>
          <a:solidFill>
            <a:srgbClr val="F2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224272"/>
            <a:ext cx="5212080" cy="810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1300" i="0">
                <a:solidFill>
                  <a:srgbClr val="E8A33D"/>
                </a:solidFill>
                <a:latin typeface="Calibri"/>
              </a:rPr>
              <a:t>CHECK  </a:t>
            </a:r>
            <a:r>
              <a:rPr b="0" sz="1500" i="0">
                <a:solidFill>
                  <a:srgbClr val="2B3034"/>
                </a:solidFill>
                <a:latin typeface="Calibri"/>
              </a:rPr>
              <a:t>motor base sits flush on the arm, all four holes visible through the arm, wires headed toward the stack.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691640"/>
            <a:ext cx="5577840" cy="264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1300" i="0">
                <a:solidFill>
                  <a:srgbClr val="E8A33D"/>
                </a:solidFill>
                <a:latin typeface="Calibri"/>
              </a:rPr>
              <a:t>SAFETY GLASSES 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992376"/>
            <a:ext cx="5577840" cy="264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1300" i="0">
                <a:solidFill>
                  <a:srgbClr val="E8A33D"/>
                </a:solidFill>
                <a:latin typeface="Calibri"/>
              </a:rPr>
              <a:t>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293112"/>
            <a:ext cx="557784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20"/>
              </a:spcAft>
            </a:pPr>
            <a:r>
              <a:rPr b="1" sz="1600" i="0">
                <a:solidFill>
                  <a:srgbClr val="E8A33D"/>
                </a:solidFill>
                <a:latin typeface="Calibri"/>
              </a:rPr>
              <a:t>1.  </a:t>
            </a:r>
            <a:r>
              <a:rPr b="0" sz="1600" i="0">
                <a:solidFill>
                  <a:srgbClr val="2B3034"/>
                </a:solidFill>
                <a:latin typeface="Calibri"/>
              </a:rPr>
              <a:t>Set the motor on the arm end, bolt holes aligned with the arm's 16 × 16 mm pattern.</a:t>
            </a:r>
          </a:p>
          <a:p>
            <a:pPr>
              <a:spcAft>
                <a:spcPts val="720"/>
              </a:spcAft>
            </a:pPr>
            <a:r>
              <a:rPr b="1" sz="1600" i="0">
                <a:solidFill>
                  <a:srgbClr val="E8A33D"/>
                </a:solidFill>
                <a:latin typeface="Calibri"/>
              </a:rPr>
              <a:t>2.  </a:t>
            </a:r>
            <a:r>
              <a:rPr b="0" sz="1600" i="0">
                <a:solidFill>
                  <a:srgbClr val="2B3034"/>
                </a:solidFill>
                <a:latin typeface="Calibri"/>
              </a:rPr>
              <a:t>Wires pointing </a:t>
            </a:r>
            <a:r>
              <a:rPr b="1" sz="1600" i="0">
                <a:solidFill>
                  <a:srgbClr val="2B3034"/>
                </a:solidFill>
                <a:latin typeface="Calibri"/>
              </a:rPr>
              <a:t>inboard</a:t>
            </a:r>
            <a:r>
              <a:rPr b="0" sz="1600" i="0">
                <a:solidFill>
                  <a:srgbClr val="2B3034"/>
                </a:solidFill>
                <a:latin typeface="Calibri"/>
              </a:rPr>
              <a:t>, toward the centre of the frame.</a:t>
            </a:r>
          </a:p>
          <a:p>
            <a:pPr>
              <a:spcAft>
                <a:spcPts val="720"/>
              </a:spcAft>
            </a:pPr>
            <a:r>
              <a:rPr b="1" sz="1600" i="0">
                <a:solidFill>
                  <a:srgbClr val="E8A33D"/>
                </a:solidFill>
                <a:latin typeface="Calibri"/>
              </a:rPr>
              <a:t>3.  </a:t>
            </a:r>
            <a:r>
              <a:rPr b="0" sz="1600" i="0">
                <a:solidFill>
                  <a:srgbClr val="2B3034"/>
                </a:solidFill>
                <a:latin typeface="Calibri"/>
              </a:rPr>
              <a:t>Hold it flat while the first screw goes in.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355080"/>
            <a:ext cx="8229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b="0" sz="1000" i="0">
                <a:solidFill>
                  <a:srgbClr val="6B757C"/>
                </a:solidFill>
                <a:latin typeface="Calibri"/>
              </a:rPr>
              <a:t>WI-01 · Bench setup, frame assembly, motor mounting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79" y="6355080"/>
            <a:ext cx="4114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b="0" sz="1000" i="0">
                <a:solidFill>
                  <a:srgbClr val="6B757C"/>
                </a:solidFill>
                <a:latin typeface="Calibri"/>
              </a:rPr>
              <a:t>11 / 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2000" i="0">
                <a:solidFill>
                  <a:srgbClr val="1F2326"/>
                </a:solidFill>
                <a:latin typeface="Calibri"/>
              </a:rP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25880" y="384048"/>
            <a:ext cx="1024128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b="1" sz="3000" i="0">
                <a:solidFill>
                  <a:srgbClr val="1F2326"/>
                </a:solidFill>
                <a:latin typeface="Calibri"/>
              </a:rPr>
              <a:t>Drive the screws in a cross pattern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11887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1100" i="0">
                <a:solidFill>
                  <a:srgbClr val="6B757C"/>
                </a:solidFill>
                <a:latin typeface="Calibri"/>
              </a:rPr>
              <a:t>OP 40 · 20 MIN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92240" y="1691640"/>
            <a:ext cx="5166360" cy="4343400"/>
          </a:xfrm>
          <a:prstGeom prst="roundRect">
            <a:avLst>
              <a:gd name="adj" fmla="val 6000"/>
            </a:avLst>
          </a:prstGeom>
          <a:solidFill>
            <a:srgbClr val="F2F3F4"/>
          </a:solidFill>
          <a:ln w="9525">
            <a:solidFill>
              <a:srgbClr val="E3E5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12-driving-motor-screw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8941" y="1801368"/>
            <a:ext cx="3092958" cy="4123944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48640" y="5351272"/>
            <a:ext cx="5577840" cy="820928"/>
          </a:xfrm>
          <a:prstGeom prst="roundRect">
            <a:avLst>
              <a:gd name="adj" fmla="val 6000"/>
            </a:avLst>
          </a:prstGeom>
          <a:solidFill>
            <a:srgbClr val="F2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488432"/>
            <a:ext cx="5212080" cy="546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1300" i="0">
                <a:solidFill>
                  <a:srgbClr val="E8A33D"/>
                </a:solidFill>
                <a:latin typeface="Calibri"/>
              </a:rPr>
              <a:t>CHECK  </a:t>
            </a:r>
            <a:r>
              <a:rPr b="0" sz="1500" i="0">
                <a:solidFill>
                  <a:srgbClr val="2B3034"/>
                </a:solidFill>
                <a:latin typeface="Calibri"/>
              </a:rPr>
              <a:t>all 16 screws in, all Loctited, no gap between motor base and arm on any motor.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691640"/>
            <a:ext cx="5577840" cy="264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1300" i="0">
                <a:solidFill>
                  <a:srgbClr val="E8A33D"/>
                </a:solidFill>
                <a:latin typeface="Calibri"/>
              </a:rPr>
              <a:t>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992376"/>
            <a:ext cx="557784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20"/>
              </a:spcAft>
            </a:pPr>
            <a:r>
              <a:rPr b="1" sz="1600" i="0">
                <a:solidFill>
                  <a:srgbClr val="E8A33D"/>
                </a:solidFill>
                <a:latin typeface="Calibri"/>
              </a:rPr>
              <a:t>1.  </a:t>
            </a:r>
            <a:r>
              <a:rPr b="0" sz="1600" i="0">
                <a:solidFill>
                  <a:srgbClr val="2B3034"/>
                </a:solidFill>
                <a:latin typeface="Calibri"/>
              </a:rPr>
              <a:t>Screws go up </a:t>
            </a:r>
            <a:r>
              <a:rPr b="1" sz="1600" i="0">
                <a:solidFill>
                  <a:srgbClr val="2B3034"/>
                </a:solidFill>
                <a:latin typeface="Calibri"/>
              </a:rPr>
              <a:t>through the arm, into the motor</a:t>
            </a:r>
            <a:r>
              <a:rPr b="0" sz="1600" i="0">
                <a:solidFill>
                  <a:srgbClr val="2B3034"/>
                </a:solidFill>
                <a:latin typeface="Calibri"/>
              </a:rPr>
              <a:t> — from underneath.</a:t>
            </a:r>
          </a:p>
          <a:p>
            <a:pPr>
              <a:spcAft>
                <a:spcPts val="720"/>
              </a:spcAft>
            </a:pPr>
            <a:r>
              <a:rPr b="1" sz="1600" i="0">
                <a:solidFill>
                  <a:srgbClr val="E8A33D"/>
                </a:solidFill>
                <a:latin typeface="Calibri"/>
              </a:rPr>
              <a:t>2.  </a:t>
            </a:r>
            <a:r>
              <a:rPr b="0" sz="1600" i="0">
                <a:solidFill>
                  <a:srgbClr val="2B3034"/>
                </a:solidFill>
                <a:latin typeface="Calibri"/>
              </a:rPr>
              <a:t>Drive them in a </a:t>
            </a:r>
            <a:r>
              <a:rPr b="1" sz="1600" i="0">
                <a:solidFill>
                  <a:srgbClr val="2B3034"/>
                </a:solidFill>
                <a:latin typeface="Calibri"/>
              </a:rPr>
              <a:t>cross pattern</a:t>
            </a:r>
            <a:r>
              <a:rPr b="0" sz="1600" i="0">
                <a:solidFill>
                  <a:srgbClr val="2B3034"/>
                </a:solidFill>
                <a:latin typeface="Calibri"/>
              </a:rPr>
              <a:t> — one corner, then the opposite corner, then the other pair — so the motor seats flat, not tilted.</a:t>
            </a:r>
          </a:p>
          <a:p>
            <a:pPr>
              <a:spcAft>
                <a:spcPts val="720"/>
              </a:spcAft>
            </a:pPr>
            <a:r>
              <a:rPr b="1" sz="1600" i="0">
                <a:solidFill>
                  <a:srgbClr val="E8A33D"/>
                </a:solidFill>
                <a:latin typeface="Calibri"/>
              </a:rPr>
              <a:t>3.  </a:t>
            </a:r>
            <a:r>
              <a:rPr b="0" sz="1600" i="0">
                <a:solidFill>
                  <a:srgbClr val="2B3034"/>
                </a:solidFill>
                <a:latin typeface="Calibri"/>
              </a:rPr>
              <a:t>Snug only. Same rule as the frame bolts.</a:t>
            </a:r>
          </a:p>
          <a:p>
            <a:pPr>
              <a:spcAft>
                <a:spcPts val="720"/>
              </a:spcAft>
            </a:pPr>
            <a:r>
              <a:rPr b="1" sz="1600" i="0">
                <a:solidFill>
                  <a:srgbClr val="E8A33D"/>
                </a:solidFill>
                <a:latin typeface="Calibri"/>
              </a:rPr>
              <a:t>4.  </a:t>
            </a:r>
            <a:r>
              <a:rPr b="0" sz="1600" i="0">
                <a:solidFill>
                  <a:srgbClr val="2B3034"/>
                </a:solidFill>
                <a:latin typeface="Calibri"/>
              </a:rPr>
              <a:t>Repeat for all four motors.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355080"/>
            <a:ext cx="8229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b="0" sz="1000" i="0">
                <a:solidFill>
                  <a:srgbClr val="6B757C"/>
                </a:solidFill>
                <a:latin typeface="Calibri"/>
              </a:rPr>
              <a:t>WI-01 · Bench setup, frame assembly, motor mounting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79" y="6355080"/>
            <a:ext cx="4114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b="0" sz="1000" i="0">
                <a:solidFill>
                  <a:srgbClr val="6B757C"/>
                </a:solidFill>
                <a:latin typeface="Calibri"/>
              </a:rPr>
              <a:t>12 / 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2000" i="0">
                <a:solidFill>
                  <a:srgbClr val="1F2326"/>
                </a:solidFill>
                <a:latin typeface="Calibri"/>
              </a:rPr>
              <a:t>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25880" y="384048"/>
            <a:ext cx="1024128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b="1" sz="3000" i="0">
                <a:solidFill>
                  <a:srgbClr val="1F2326"/>
                </a:solidFill>
                <a:latin typeface="Calibri"/>
              </a:rPr>
              <a:t>Motor check: free spin, wires untrimmed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11887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1100" i="0">
                <a:solidFill>
                  <a:srgbClr val="6B757C"/>
                </a:solidFill>
                <a:latin typeface="Calibri"/>
              </a:rPr>
              <a:t>OP 40 · 5 MIN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212080" y="1691640"/>
            <a:ext cx="6446520" cy="4343400"/>
          </a:xfrm>
          <a:prstGeom prst="roundRect">
            <a:avLst>
              <a:gd name="adj" fmla="val 6000"/>
            </a:avLst>
          </a:prstGeom>
          <a:solidFill>
            <a:srgbClr val="F2F3F4"/>
          </a:solidFill>
          <a:ln w="9525">
            <a:solidFill>
              <a:srgbClr val="E3E5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13a-spin-check-lef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1808" y="1818132"/>
            <a:ext cx="3067812" cy="4090416"/>
          </a:xfrm>
          <a:prstGeom prst="rect">
            <a:avLst/>
          </a:prstGeom>
        </p:spPr>
      </p:pic>
      <p:pic>
        <p:nvPicPr>
          <p:cNvPr id="7" name="Picture 6" descr="13b-spin-check-righ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1060" y="1818132"/>
            <a:ext cx="3067812" cy="4090416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48640" y="4294632"/>
            <a:ext cx="4297680" cy="1877568"/>
          </a:xfrm>
          <a:prstGeom prst="roundRect">
            <a:avLst>
              <a:gd name="adj" fmla="val 6000"/>
            </a:avLst>
          </a:prstGeom>
          <a:solidFill>
            <a:srgbClr val="F2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431792"/>
            <a:ext cx="3931920" cy="1603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1300" i="0">
                <a:solidFill>
                  <a:srgbClr val="E8A33D"/>
                </a:solidFill>
                <a:latin typeface="Calibri"/>
              </a:rPr>
              <a:t>CHECK  </a:t>
            </a:r>
            <a:r>
              <a:rPr b="0" sz="1500" i="0">
                <a:solidFill>
                  <a:srgbClr val="2B3034"/>
                </a:solidFill>
                <a:latin typeface="Calibri"/>
              </a:rPr>
              <a:t>each motor spins freely both ways — no scraping, no wobble, no tick. A tick means a screw is touching the windings: </a:t>
            </a:r>
            <a:r>
              <a:rPr b="1" sz="1500" i="0">
                <a:solidFill>
                  <a:srgbClr val="2B3034"/>
                </a:solidFill>
                <a:latin typeface="Calibri"/>
              </a:rPr>
              <a:t>back it out now.</a:t>
            </a:r>
            <a:r>
              <a:rPr b="0" sz="1500" i="0">
                <a:solidFill>
                  <a:srgbClr val="2B3034"/>
                </a:solidFill>
                <a:latin typeface="Calibri"/>
              </a:rPr>
              <a:t> </a:t>
            </a:r>
            <a:r>
              <a:rPr b="1" sz="1500" i="0">
                <a:solidFill>
                  <a:srgbClr val="2B3034"/>
                </a:solidFill>
                <a:latin typeface="Calibri"/>
              </a:rPr>
              <a:t>Do not trim motor wires yet;</a:t>
            </a:r>
            <a:r>
              <a:rPr b="0" sz="1500" i="0">
                <a:solidFill>
                  <a:srgbClr val="2B3034"/>
                </a:solidFill>
                <a:latin typeface="Calibri"/>
              </a:rPr>
              <a:t> final length depends on where the ESC sits.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691640"/>
            <a:ext cx="4297680" cy="264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1300" i="0">
                <a:solidFill>
                  <a:srgbClr val="E8A33D"/>
                </a:solidFill>
                <a:latin typeface="Calibri"/>
              </a:rPr>
              <a:t>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992376"/>
            <a:ext cx="429768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20"/>
              </a:spcAft>
            </a:pPr>
            <a:r>
              <a:rPr b="1" sz="1600" i="0">
                <a:solidFill>
                  <a:srgbClr val="E8A33D"/>
                </a:solidFill>
                <a:latin typeface="Calibri"/>
              </a:rPr>
              <a:t>1.  </a:t>
            </a:r>
            <a:r>
              <a:rPr b="0" sz="1600" i="0">
                <a:solidFill>
                  <a:srgbClr val="2B3034"/>
                </a:solidFill>
                <a:latin typeface="Calibri"/>
              </a:rPr>
              <a:t>Spin each motor bell by hand — both directions.</a:t>
            </a:r>
          </a:p>
          <a:p>
            <a:pPr>
              <a:spcAft>
                <a:spcPts val="720"/>
              </a:spcAft>
            </a:pPr>
            <a:r>
              <a:rPr b="1" sz="1600" i="0">
                <a:solidFill>
                  <a:srgbClr val="E8A33D"/>
                </a:solidFill>
                <a:latin typeface="Calibri"/>
              </a:rPr>
              <a:t>2.  </a:t>
            </a:r>
            <a:r>
              <a:rPr b="0" sz="1600" i="0">
                <a:solidFill>
                  <a:srgbClr val="2B3034"/>
                </a:solidFill>
                <a:latin typeface="Calibri"/>
              </a:rPr>
              <a:t>Leave every motor wire at full length.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355080"/>
            <a:ext cx="8229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b="0" sz="1000" i="0">
                <a:solidFill>
                  <a:srgbClr val="6B757C"/>
                </a:solidFill>
                <a:latin typeface="Calibri"/>
              </a:rPr>
              <a:t>WI-01 · Bench setup, frame assembly, motor mounting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79" y="6355080"/>
            <a:ext cx="4114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b="0" sz="1000" i="0">
                <a:solidFill>
                  <a:srgbClr val="6B757C"/>
                </a:solidFill>
                <a:latin typeface="Calibri"/>
              </a:rPr>
              <a:t>13 /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2000" i="0">
                <a:solidFill>
                  <a:srgbClr val="1F2326"/>
                </a:solidFill>
                <a:latin typeface="Calibri"/>
              </a:rPr>
              <a:t>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25880" y="384048"/>
            <a:ext cx="1024128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b="1" sz="3000" i="0">
                <a:solidFill>
                  <a:srgbClr val="1F2326"/>
                </a:solidFill>
                <a:latin typeface="Calibri"/>
              </a:rPr>
              <a:t>Stage the ESC and route the wires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11887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1100" i="0">
                <a:solidFill>
                  <a:srgbClr val="6B757C"/>
                </a:solidFill>
                <a:latin typeface="Calibri"/>
              </a:rPr>
              <a:t>OP 50 · 15 MIN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92240" y="1691640"/>
            <a:ext cx="5166360" cy="4343400"/>
          </a:xfrm>
          <a:prstGeom prst="roundRect">
            <a:avLst>
              <a:gd name="adj" fmla="val 6000"/>
            </a:avLst>
          </a:prstGeom>
          <a:solidFill>
            <a:srgbClr val="F2F3F4"/>
          </a:solidFill>
          <a:ln w="9525">
            <a:solidFill>
              <a:srgbClr val="E3E5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14-esc-staged-wires-route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8941" y="1801368"/>
            <a:ext cx="3092958" cy="4123944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48640" y="5351272"/>
            <a:ext cx="5577840" cy="820928"/>
          </a:xfrm>
          <a:prstGeom prst="roundRect">
            <a:avLst>
              <a:gd name="adj" fmla="val 6000"/>
            </a:avLst>
          </a:prstGeom>
          <a:solidFill>
            <a:srgbClr val="F2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488432"/>
            <a:ext cx="5212080" cy="546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1300" i="0">
                <a:solidFill>
                  <a:srgbClr val="E8A33D"/>
                </a:solidFill>
                <a:latin typeface="Calibri"/>
              </a:rPr>
              <a:t>CHECK  </a:t>
            </a:r>
            <a:r>
              <a:rPr b="0" sz="1500" i="0">
                <a:solidFill>
                  <a:srgbClr val="2B3034"/>
                </a:solidFill>
                <a:latin typeface="Calibri"/>
              </a:rPr>
              <a:t>every wire reaches its pads with a little slack, and no wire crosses a prop line.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691640"/>
            <a:ext cx="5577840" cy="264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1300" i="0">
                <a:solidFill>
                  <a:srgbClr val="E8A33D"/>
                </a:solidFill>
                <a:latin typeface="Calibri"/>
              </a:rPr>
              <a:t>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992376"/>
            <a:ext cx="557784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20"/>
              </a:spcAft>
            </a:pPr>
            <a:r>
              <a:rPr b="1" sz="1600" i="0">
                <a:solidFill>
                  <a:srgbClr val="E8A33D"/>
                </a:solidFill>
                <a:latin typeface="Calibri"/>
              </a:rPr>
              <a:t>1.  </a:t>
            </a:r>
            <a:r>
              <a:rPr b="0" sz="1600" i="0">
                <a:solidFill>
                  <a:srgbClr val="2B3034"/>
                </a:solidFill>
                <a:latin typeface="Calibri"/>
              </a:rPr>
              <a:t>Dry-fit the ESC on the stack standoffs, </a:t>
            </a:r>
            <a:r>
              <a:rPr b="1" sz="1600" i="0">
                <a:solidFill>
                  <a:srgbClr val="2B3034"/>
                </a:solidFill>
                <a:latin typeface="Calibri"/>
              </a:rPr>
              <a:t>arrow / battery pads facing the rear</a:t>
            </a:r>
            <a:r>
              <a:rPr b="0" sz="1600" i="0">
                <a:solidFill>
                  <a:srgbClr val="2B3034"/>
                </a:solidFill>
                <a:latin typeface="Calibri"/>
              </a:rPr>
              <a:t> of the aircraft.</a:t>
            </a:r>
          </a:p>
          <a:p>
            <a:pPr>
              <a:spcAft>
                <a:spcPts val="720"/>
              </a:spcAft>
            </a:pPr>
            <a:r>
              <a:rPr b="1" sz="1600" i="0">
                <a:solidFill>
                  <a:srgbClr val="E8A33D"/>
                </a:solidFill>
                <a:latin typeface="Calibri"/>
              </a:rPr>
              <a:t>2.  </a:t>
            </a:r>
            <a:r>
              <a:rPr b="0" sz="1600" i="0">
                <a:solidFill>
                  <a:srgbClr val="2B3034"/>
                </a:solidFill>
                <a:latin typeface="Calibri"/>
              </a:rPr>
              <a:t>Route each motor's three wires to its ESC corner.</a:t>
            </a:r>
          </a:p>
          <a:p>
            <a:pPr>
              <a:spcAft>
                <a:spcPts val="720"/>
              </a:spcAft>
            </a:pPr>
            <a:r>
              <a:rPr b="1" sz="1600" i="0">
                <a:solidFill>
                  <a:srgbClr val="E8A33D"/>
                </a:solidFill>
                <a:latin typeface="Calibri"/>
              </a:rPr>
              <a:t>3.  </a:t>
            </a:r>
            <a:r>
              <a:rPr b="0" sz="1600" i="0">
                <a:solidFill>
                  <a:srgbClr val="2B3034"/>
                </a:solidFill>
                <a:latin typeface="Calibri"/>
              </a:rPr>
              <a:t>Mark the trim length on each wire with a scrap of tape.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355080"/>
            <a:ext cx="8229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b="0" sz="1000" i="0">
                <a:solidFill>
                  <a:srgbClr val="6B757C"/>
                </a:solidFill>
                <a:latin typeface="Calibri"/>
              </a:rPr>
              <a:t>WI-01 · Bench setup, frame assembly, motor mounting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79" y="6355080"/>
            <a:ext cx="4114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b="0" sz="1000" i="0">
                <a:solidFill>
                  <a:srgbClr val="6B757C"/>
                </a:solidFill>
                <a:latin typeface="Calibri"/>
              </a:rPr>
              <a:t>14 / 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3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2000" i="0">
                <a:solidFill>
                  <a:srgbClr val="1F2326"/>
                </a:solidFill>
                <a:latin typeface="Calibri"/>
              </a:rPr>
              <a:t>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25880" y="384048"/>
            <a:ext cx="1024128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b="1" sz="3000" i="0">
                <a:solidFill>
                  <a:srgbClr val="FFFFFF"/>
                </a:solidFill>
                <a:latin typeface="Calibri"/>
              </a:rPr>
              <a:t>End state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92240" y="1691640"/>
            <a:ext cx="5166360" cy="4343400"/>
          </a:xfrm>
          <a:prstGeom prst="roundRect">
            <a:avLst>
              <a:gd name="adj" fmla="val 6000"/>
            </a:avLst>
          </a:prstGeom>
          <a:solidFill>
            <a:srgbClr val="2B3034"/>
          </a:solidFill>
          <a:ln w="9525">
            <a:solidFill>
              <a:srgbClr val="6B75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601968" y="1691640"/>
            <a:ext cx="4946904" cy="4343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b="1" sz="1300" i="0">
                <a:solidFill>
                  <a:srgbClr val="6B757C"/>
                </a:solidFill>
                <a:latin typeface="Calibri"/>
              </a:rPr>
              <a:t>PHOTO</a:t>
            </a:r>
          </a:p>
          <a:p>
            <a:pPr algn="ctr"/>
            <a:r>
              <a:rPr b="0" sz="1000" i="0">
                <a:solidFill>
                  <a:srgbClr val="6B757C"/>
                </a:solidFill>
                <a:latin typeface="Calibri"/>
              </a:rPr>
              <a:t>15-end-state.jpg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5577840" cy="2311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1100" i="0">
                <a:solidFill>
                  <a:srgbClr val="E8A33D"/>
                </a:solidFill>
                <a:latin typeface="Calibri"/>
              </a:rPr>
              <a:t>WI-01 IS DONE WHEN ALL OF THESE ARE TRUE: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59356"/>
            <a:ext cx="557784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30"/>
              </a:spcAft>
            </a:pPr>
            <a:r>
              <a:rPr b="1" sz="1400" i="0">
                <a:solidFill>
                  <a:srgbClr val="E8A33D"/>
                </a:solidFill>
                <a:latin typeface="Calibri"/>
              </a:rPr>
              <a:t>•  </a:t>
            </a:r>
            <a:r>
              <a:rPr b="0" sz="1400" i="0">
                <a:solidFill>
                  <a:srgbClr val="FFFFFF"/>
                </a:solidFill>
                <a:latin typeface="Calibri"/>
              </a:rPr>
              <a:t>Iron proven at temperature; three practice joints passed</a:t>
            </a:r>
          </a:p>
          <a:p>
            <a:pPr>
              <a:spcAft>
                <a:spcPts val="630"/>
              </a:spcAft>
            </a:pPr>
            <a:r>
              <a:rPr b="1" sz="1400" i="0">
                <a:solidFill>
                  <a:srgbClr val="E8A33D"/>
                </a:solidFill>
                <a:latin typeface="Calibri"/>
              </a:rPr>
              <a:t>•  </a:t>
            </a:r>
            <a:r>
              <a:rPr b="0" sz="1400" i="0">
                <a:solidFill>
                  <a:srgbClr val="FFFFFF"/>
                </a:solidFill>
                <a:latin typeface="Calibri"/>
              </a:rPr>
              <a:t>Inventory flags cleared; ESC box contents recorded</a:t>
            </a:r>
          </a:p>
          <a:p>
            <a:pPr>
              <a:spcAft>
                <a:spcPts val="630"/>
              </a:spcAft>
            </a:pPr>
            <a:r>
              <a:rPr b="1" sz="1400" i="0">
                <a:solidFill>
                  <a:srgbClr val="E8A33D"/>
                </a:solidFill>
                <a:latin typeface="Calibri"/>
              </a:rPr>
              <a:t>•  </a:t>
            </a:r>
            <a:r>
              <a:rPr b="0" sz="1400" i="0">
                <a:solidFill>
                  <a:srgbClr val="FFFFFF"/>
                </a:solidFill>
                <a:latin typeface="Calibri"/>
              </a:rPr>
              <a:t>Battery measured at storage voltage and back in the bag</a:t>
            </a:r>
          </a:p>
          <a:p>
            <a:pPr>
              <a:spcAft>
                <a:spcPts val="630"/>
              </a:spcAft>
            </a:pPr>
            <a:r>
              <a:rPr b="1" sz="1400" i="0">
                <a:solidFill>
                  <a:srgbClr val="E8A33D"/>
                </a:solidFill>
                <a:latin typeface="Calibri"/>
              </a:rPr>
              <a:t>•  </a:t>
            </a:r>
            <a:r>
              <a:rPr b="0" sz="1400" i="0">
                <a:solidFill>
                  <a:srgbClr val="FFFFFF"/>
                </a:solidFill>
                <a:latin typeface="Calibri"/>
              </a:rPr>
              <a:t>Frame assembled, Loctited, flat, stack holes on 30 × 30</a:t>
            </a:r>
          </a:p>
          <a:p>
            <a:pPr>
              <a:spcAft>
                <a:spcPts val="630"/>
              </a:spcAft>
            </a:pPr>
            <a:r>
              <a:rPr b="1" sz="1400" i="0">
                <a:solidFill>
                  <a:srgbClr val="E8A33D"/>
                </a:solidFill>
                <a:latin typeface="Calibri"/>
              </a:rPr>
              <a:t>•  </a:t>
            </a:r>
            <a:r>
              <a:rPr b="0" sz="1400" i="0">
                <a:solidFill>
                  <a:srgbClr val="FFFFFF"/>
                </a:solidFill>
                <a:latin typeface="Calibri"/>
              </a:rPr>
              <a:t>Four motors mounted with verified screw length; all spin free</a:t>
            </a:r>
          </a:p>
          <a:p>
            <a:pPr>
              <a:spcAft>
                <a:spcPts val="630"/>
              </a:spcAft>
            </a:pPr>
            <a:r>
              <a:rPr b="1" sz="1400" i="0">
                <a:solidFill>
                  <a:srgbClr val="E8A33D"/>
                </a:solidFill>
                <a:latin typeface="Calibri"/>
              </a:rPr>
              <a:t>•  </a:t>
            </a:r>
            <a:r>
              <a:rPr b="0" sz="1400" i="0">
                <a:solidFill>
                  <a:srgbClr val="FFFFFF"/>
                </a:solidFill>
                <a:latin typeface="Calibri"/>
              </a:rPr>
              <a:t>ESC staged; every motor wire routed and tape-marked, none trimmed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453128"/>
            <a:ext cx="5577840" cy="462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1100" i="0">
                <a:solidFill>
                  <a:srgbClr val="E8A33D"/>
                </a:solidFill>
                <a:latin typeface="Calibri"/>
              </a:rPr>
              <a:t>NEXT  </a:t>
            </a:r>
            <a:r>
              <a:rPr b="1" sz="1400" i="0">
                <a:solidFill>
                  <a:srgbClr val="FFFFFF"/>
                </a:solidFill>
                <a:latin typeface="Calibri"/>
              </a:rPr>
              <a:t>WI-02 — ESC soldering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355080"/>
            <a:ext cx="8229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b="0" sz="1000" i="0">
                <a:solidFill>
                  <a:srgbClr val="9AA3A9"/>
                </a:solidFill>
                <a:latin typeface="Calibri"/>
              </a:rPr>
              <a:t>WI-01 · Bench setup, frame assembly, motor mounting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79" y="6355080"/>
            <a:ext cx="4114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b="0" sz="1000" i="0">
                <a:solidFill>
                  <a:srgbClr val="9AA3A9"/>
                </a:solidFill>
                <a:latin typeface="Calibri"/>
              </a:rPr>
              <a:t>15 /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