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400" i="0">
                <a:solidFill>
                  <a:srgbClr val="E8A33D"/>
                </a:solidFill>
                <a:latin typeface="Calibri"/>
              </a:rPr>
              <a:t>PROJECT ONE  ·  ROUTING  ·  WI-02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4000" i="0">
                <a:solidFill>
                  <a:srgbClr val="FFFFFF"/>
                </a:solidFill>
                <a:latin typeface="Calibri"/>
              </a:rPr>
              <a:t>ESC soldering: motors, XT60, capacitor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400" i="0">
                <a:solidFill>
                  <a:srgbClr val="E6E8EA"/>
                </a:solidFill>
                <a:latin typeface="Calibri"/>
              </a:rPr>
              <a:t>In progress — started 2026-09-21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53332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05333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400" i="0">
                <a:solidFill>
                  <a:srgbClr val="E6E8EA"/>
                </a:solidFill>
                <a:latin typeface="Calibri"/>
              </a:rPr>
              <a:t>WI-01 complete. Not the flight controller — it connects to the ESC by a plug-in cable, so none of these joints wait on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80204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BATTERY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680204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400" i="0">
                <a:solidFill>
                  <a:srgbClr val="E6E8EA"/>
                </a:solidFill>
                <a:latin typeface="Calibri"/>
              </a:rPr>
              <a:t>None in this WI. First power-up is WI-03, through the smoke stopper, after the pinout check.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5936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075936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400" i="0">
                <a:solidFill>
                  <a:srgbClr val="E6E8EA"/>
                </a:solidFill>
                <a:latin typeface="Calibri"/>
              </a:rPr>
              <a:t>~2 h 30 min across three operations — 14 joints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9AA3A9"/>
                </a:solidFill>
                <a:latin typeface="Calibri"/>
              </a:rPr>
              <a:t>WI-02 · ESC soldering: motors, XT60, capacitor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9AA3A9"/>
                </a:solidFill>
                <a:latin typeface="Calibri"/>
              </a:rPr>
              <a:t>One slide per step · one photo · one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3200" i="0">
                <a:solidFill>
                  <a:srgbClr val="1F2326"/>
                </a:solidFill>
                <a:latin typeface="Calibri"/>
              </a:rPr>
              <a:t>Deck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Tools &amp; parts on the bench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Trim, strip, and tin the motor wires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10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Tin the twelve ESC motor pads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10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260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Solder each motor wire to its pad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260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10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832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Inspect: cone, no bridge, tug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832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10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8404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Heat shrink goes on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8404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20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1554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5544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XT60 to the battery pads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15544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20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20116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0116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Capacitor across the battery pads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0116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20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0" y="24688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4688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Shrink everything, no exposed copper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24688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20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29260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9260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Continuity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29260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100" i="0">
                <a:solidFill>
                  <a:srgbClr val="6B757C"/>
                </a:solidFill>
                <a:latin typeface="Calibri"/>
              </a:rPr>
              <a:t>Op 30</a:t>
            </a:r>
          </a:p>
        </p:txBody>
      </p:sp>
      <p:sp>
        <p:nvSpPr>
          <p:cNvPr id="32" name="Oval 31"/>
          <p:cNvSpPr/>
          <p:nvPr/>
        </p:nvSpPr>
        <p:spPr>
          <a:xfrm>
            <a:off x="6309360" y="33832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 i="0">
                <a:solidFill>
                  <a:srgbClr val="1F2326"/>
                </a:solidFill>
                <a:latin typeface="Calibr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383280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500" i="0">
                <a:solidFill>
                  <a:srgbClr val="2B3034"/>
                </a:solidFill>
                <a:latin typeface="Calibri"/>
              </a:rPr>
              <a:t>End state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WI-02 · ESC soldering: motors, XT60, capacitor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11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Tools &amp; parts on the bench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01-tools-and-parts.jpg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17312"/>
            <a:ext cx="5577840" cy="75488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554472"/>
            <a:ext cx="5212080" cy="480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300" i="0">
                <a:solidFill>
                  <a:srgbClr val="2B3034"/>
                </a:solidFill>
                <a:latin typeface="Calibri"/>
              </a:rPr>
              <a:t>the battery is in its bag, somewhere else. It does not come to the bench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57784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ON THE BENCH BEFORE STARTING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5935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Iron with the </a:t>
            </a:r>
            <a:r>
              <a:rPr b="1" sz="1400" i="0">
                <a:solidFill>
                  <a:srgbClr val="2B3034"/>
                </a:solidFill>
                <a:latin typeface="Calibri"/>
              </a:rPr>
              <a:t>largest chisel tip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Solder (63/37), flux, wick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Side cutters, wire strippers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Heat shrink — sized for the motor wires and for the XT60 leads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Helping-hands station with magnifier (from Day 3 on)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ESC — Skystars KO60II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XT60 pigtail (or the one from the ESC box)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Capacitor — </a:t>
            </a:r>
            <a:r>
              <a:rPr b="1" sz="1400" i="0">
                <a:solidFill>
                  <a:srgbClr val="2B3034"/>
                </a:solidFill>
                <a:latin typeface="Calibri"/>
              </a:rPr>
              <a:t>read the can: 1000 µF 35 V.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 The stripe side is negative. A 25 V cap blows on 6S.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Safety glasses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WI-02 · ESC soldering: motors, XT60, capacitor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Trim, strip, and tin the motor wires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10 · 20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02-trim-strip-tin-wires.jpg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each tinned end is a smooth silver cylinder, not a blob, and no stray strands stick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 — FOR ALL TWELVE MOTOR WIRES: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Cut at the tape mark from WI-01, slide 14.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Strip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~2 mm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 of insulation.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3.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Flux the bare end and tin it — iron under, solder on top, until the strands wick full.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WI-02 · ESC soldering: motors, XT60, capacitor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Tin the twelve ESC motor pads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10 · 15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flux-on-esc-pa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941" y="1801368"/>
            <a:ext cx="3092958" cy="41239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twelve shiny domes, none touching a neighbor.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Flux every motor pad.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Iron at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350–370 °C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3.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Put a small blob of solder on each pad — the pad should wet and the blob should sit domed, not spread.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WI-02 · ESC soldering: motors, XT60, capacitor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Solder each motor wire to its 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10 · 45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04-solder-motor-wire.jpg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the wire doesn't move when nudged, and the solder flowed onto both pad and wire.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 — ONE JOINT AT A TIME, TWELVE TIMES: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Lay the tinned wire on its pad.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Iron on pad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and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 wire together.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3.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Feed a little solder into the joint.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4.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Hold still for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2 seconds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 after the iron lifts — moving a cooling joint makes a cold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3528"/>
            <a:ext cx="5577840" cy="619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600" i="0">
                <a:solidFill>
                  <a:srgbClr val="6B757C"/>
                </a:solidFill>
                <a:latin typeface="Calibri"/>
              </a:rPr>
              <a:t>Wire order within a corner doesn't matter — motor direction is fixed in software later.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WI-02 · ESC soldering: motors, XT60, capacitor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Inspect: cone, no bridge, tug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10 · 10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05-inspect-joints.jpg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87112"/>
            <a:ext cx="5577840" cy="108508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24272"/>
            <a:ext cx="5212080" cy="810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twelve shiny cones, no dull balls, no bridges, no movement. Any joint that fails gets wicked and redone — not reheated and hoped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 — UNDER THE MAGNIFIER, EVERY JOINT: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Look for a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shiny cone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 climbing from pad to wire.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Look between neighbors for any bridge.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3.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Tug each wire, gently.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WI-02 · ESC soldering: motors, XT60, capacitor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Heat shrink goes on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20 · 2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06-heat-shrink-on-leads.jpg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87112"/>
            <a:ext cx="5577840" cy="108508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24272"/>
            <a:ext cx="5212080" cy="810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two pieces of shrink on the leads before the iron gets near them. It cannot go on after the joint is made.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Cut a length of heat shrink for each XT60 lead.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Slide both pieces onto the leads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now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, pushed well back from the ends.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WI-02 · ESC soldering: motors, XT60, capacitor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XT60 to the battery pads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20 · 25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07-xt60-battery-pads.jpg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17312"/>
            <a:ext cx="5577840" cy="75488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54472"/>
            <a:ext cx="5212080" cy="480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300" i="0">
                <a:solidFill>
                  <a:srgbClr val="2B3034"/>
                </a:solidFill>
                <a:latin typeface="Calibri"/>
              </a:rPr>
              <a:t>both leads solid, polarity confirmed against the ESC silkscreen a fourth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577840" cy="1217168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212080" cy="94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CAUTION  </a:t>
            </a:r>
            <a:r>
              <a:rPr b="1" sz="1300" i="0">
                <a:solidFill>
                  <a:srgbClr val="2B3034"/>
                </a:solidFill>
                <a:latin typeface="Calibri"/>
              </a:rPr>
              <a:t>These are the two big joints. Max temperature (480 °C), largest tip, patience. Let the pad fully wet before feeding solder — 75 W needs a few extra seconds, not force.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3400"/>
            <a:ext cx="557784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111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Tin the two big pads generously.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2.  </a:t>
            </a:r>
            <a:r>
              <a:rPr b="1" sz="1400" i="0">
                <a:solidFill>
                  <a:srgbClr val="2B3034"/>
                </a:solidFill>
                <a:latin typeface="Calibri"/>
              </a:rPr>
              <a:t>Red → +, black → −.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 Triple-check before the iron touches. Reversed polarity destroys the ESC instantly.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3.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Tinned lead on tinned pad, iron on both, feed solder until it flows through, hold still to cool.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WI-02 · ESC soldering: motors, XT60, capacitor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Capacitor across the battery pads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20 · 15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08-capacitor.jpg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1000 µF 35 V, stripe on the − pad, legs not touching anything else.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Trim the capacitor legs short — it sits close to the board.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1" sz="1600" i="0">
                <a:solidFill>
                  <a:srgbClr val="2B3034"/>
                </a:solidFill>
                <a:latin typeface="Calibri"/>
              </a:rPr>
              <a:t>Stripe to −.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 The stripe on the can marks the negative leg.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3.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Solder each leg to the same battery pads as the XT60.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WI-02 · ESC soldering: motors, XT60, capacitor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Shrink everything, no exposed copper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20 · 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09-shrink-done.jpg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CHECK  </a:t>
            </a:r>
            <a:r>
              <a:rPr b="0" sz="1500" i="0">
                <a:solidFill>
                  <a:srgbClr val="2B3034"/>
                </a:solidFill>
                <a:latin typeface="Calibri"/>
              </a:rPr>
              <a:t>no exposed copper anywhere on the battery side of the ESC.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577840" cy="264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237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Slide the shrink from slide 6 down over the XT60 joints.</a:t>
            </a:r>
          </a:p>
          <a:p>
            <a:pPr>
              <a:spcAft>
                <a:spcPts val="720"/>
              </a:spcAft>
            </a:pPr>
            <a:r>
              <a:rPr b="1" sz="16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600" i="0">
                <a:solidFill>
                  <a:srgbClr val="2B3034"/>
                </a:solidFill>
                <a:latin typeface="Calibri"/>
              </a:rPr>
              <a:t>Shrink it — iron barrel held near, rotate; or the lower half of a lighter flame, kept moving.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WI-02 · ESC soldering: motors, XT60, capacitor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1F2326"/>
                </a:solidFill>
                <a:latin typeface="Calibri"/>
              </a:rPr>
              <a:t>Continuity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6B757C"/>
                </a:solidFill>
                <a:latin typeface="Calibri"/>
              </a:rPr>
              <a:t>OP 30 · 20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 w="9525">
            <a:solidFill>
              <a:srgbClr val="E3E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10-continuity-audit.jpg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61612"/>
            <a:ext cx="5577840" cy="1910588"/>
          </a:xfrm>
          <a:prstGeom prst="roundRect">
            <a:avLst>
              <a:gd name="adj" fmla="val 6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98772"/>
            <a:ext cx="5212080" cy="1636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CHECK</a:t>
            </a:r>
          </a:p>
          <a:p>
            <a:pPr>
              <a:spcBef>
                <a:spcPts val="300"/>
              </a:spcBef>
            </a:pPr>
            <a:r>
              <a:rPr b="0" sz="1300" i="0">
                <a:solidFill>
                  <a:srgbClr val="2B3034"/>
                </a:solidFill>
                <a:latin typeface="Calibri"/>
              </a:rPr>
              <a:t>✓  + to − reads </a:t>
            </a:r>
            <a:r>
              <a:rPr b="1" sz="1300" i="0">
                <a:solidFill>
                  <a:srgbClr val="2B3034"/>
                </a:solidFill>
                <a:latin typeface="Calibri"/>
              </a:rPr>
              <a:t>OPEN</a:t>
            </a:r>
            <a:r>
              <a:rPr b="0" sz="1300" i="0">
                <a:solidFill>
                  <a:srgbClr val="2B3034"/>
                </a:solidFill>
                <a:latin typeface="Calibri"/>
              </a:rPr>
              <a:t>. A brief blip while the capacitor charges is fine; a solid beep is a short — </a:t>
            </a:r>
            <a:r>
              <a:rPr b="1" sz="1300" i="0">
                <a:solidFill>
                  <a:srgbClr val="2B3034"/>
                </a:solidFill>
                <a:latin typeface="Calibri"/>
              </a:rPr>
              <a:t>stop and find it.</a:t>
            </a:r>
          </a:p>
          <a:p>
            <a:pPr>
              <a:spcBef>
                <a:spcPts val="300"/>
              </a:spcBef>
            </a:pPr>
            <a:r>
              <a:rPr b="0" sz="1300" i="0">
                <a:solidFill>
                  <a:srgbClr val="2B3034"/>
                </a:solidFill>
                <a:latin typeface="Calibri"/>
              </a:rPr>
              <a:t>✓  Every motor wire beeps to its own pad only.</a:t>
            </a:r>
          </a:p>
          <a:p>
            <a:pPr>
              <a:spcBef>
                <a:spcPts val="300"/>
              </a:spcBef>
            </a:pPr>
            <a:r>
              <a:rPr b="0" sz="1300" i="0">
                <a:solidFill>
                  <a:srgbClr val="2B3034"/>
                </a:solidFill>
                <a:latin typeface="Calibri"/>
              </a:rPr>
              <a:t>✓  Neither battery pad beeps to any motor pad or to the frame (intended grounds excepted).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577840" cy="754888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212080" cy="480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CAUTION  </a:t>
            </a:r>
            <a:r>
              <a:rPr b="1" sz="1300" i="0">
                <a:solidFill>
                  <a:srgbClr val="2B3034"/>
                </a:solidFill>
                <a:latin typeface="Calibri"/>
              </a:rPr>
              <a:t>Multimeter on continuity. No battery anywhere near the bench.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11120"/>
            <a:ext cx="557784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7883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1.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XT60 </a:t>
            </a:r>
            <a:r>
              <a:rPr b="1" sz="1400" i="0">
                <a:solidFill>
                  <a:srgbClr val="2B3034"/>
                </a:solidFill>
                <a:latin typeface="Calibri"/>
              </a:rPr>
              <a:t>+ to −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.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2.  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Each motor wire to </a:t>
            </a:r>
            <a:r>
              <a:rPr b="1" sz="1400" i="0">
                <a:solidFill>
                  <a:srgbClr val="2B3034"/>
                </a:solidFill>
                <a:latin typeface="Calibri"/>
              </a:rPr>
              <a:t>its own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 pad, then to each </a:t>
            </a:r>
            <a:r>
              <a:rPr b="1" sz="1400" i="0">
                <a:solidFill>
                  <a:srgbClr val="2B3034"/>
                </a:solidFill>
                <a:latin typeface="Calibri"/>
              </a:rPr>
              <a:t>neighbor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 pad.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3.  </a:t>
            </a:r>
            <a:r>
              <a:rPr b="1" sz="1400" i="0">
                <a:solidFill>
                  <a:srgbClr val="2B3034"/>
                </a:solidFill>
                <a:latin typeface="Calibri"/>
              </a:rPr>
              <a:t>+ pad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 to every motor pad and to the frame; </a:t>
            </a:r>
            <a:r>
              <a:rPr b="1" sz="1400" i="0">
                <a:solidFill>
                  <a:srgbClr val="2B3034"/>
                </a:solidFill>
                <a:latin typeface="Calibri"/>
              </a:rPr>
              <a:t>− pad</a:t>
            </a:r>
            <a:r>
              <a:rPr b="0" sz="1400" i="0">
                <a:solidFill>
                  <a:srgbClr val="2B3034"/>
                </a:solidFill>
                <a:latin typeface="Calibri"/>
              </a:rPr>
              <a:t> likewise.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6B757C"/>
                </a:solidFill>
                <a:latin typeface="Calibri"/>
              </a:rPr>
              <a:t>WI-02 · ESC soldering: motors, XT60, capacitor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6B757C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 i="0">
                <a:solidFill>
                  <a:srgbClr val="1F2326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3000" i="0">
                <a:solidFill>
                  <a:srgbClr val="FFFFFF"/>
                </a:solidFill>
                <a:latin typeface="Calibri"/>
              </a:rPr>
              <a:t>End 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2B3034"/>
          </a:solidFill>
          <a:ln w="9525">
            <a:solidFill>
              <a:srgbClr val="6B7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 i="0">
                <a:solidFill>
                  <a:srgbClr val="6B757C"/>
                </a:solidFill>
                <a:latin typeface="Calibri"/>
              </a:rPr>
              <a:t>PHOTO</a:t>
            </a:r>
          </a:p>
          <a:p>
            <a:pPr algn="ctr"/>
            <a:r>
              <a:rPr b="0" sz="1000" i="0">
                <a:solidFill>
                  <a:srgbClr val="6B757C"/>
                </a:solidFill>
                <a:latin typeface="Calibri"/>
              </a:rPr>
              <a:t>11-end-state.jpg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577840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WI-02 IS DONE WHEN ALL OF THESE ARE TRUE: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59356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FFFFFF"/>
                </a:solidFill>
                <a:latin typeface="Calibri"/>
              </a:rPr>
              <a:t>Twelve motor joints soldered, inspected, tug-tested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FFFFFF"/>
                </a:solidFill>
                <a:latin typeface="Calibri"/>
              </a:rPr>
              <a:t>XT60 on the battery pads, polarity confirmed, shrink over both joints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FFFFFF"/>
                </a:solidFill>
                <a:latin typeface="Calibri"/>
              </a:rPr>
              <a:t>1000 µF 35 V capacitor across the pads, stripe to −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0" sz="1400" i="0">
                <a:solidFill>
                  <a:srgbClr val="FFFFFF"/>
                </a:solidFill>
                <a:latin typeface="Calibri"/>
              </a:rPr>
              <a:t>Continuity audit passed — no shorts, no crossed pads</a:t>
            </a:r>
          </a:p>
          <a:p>
            <a:pPr>
              <a:spcAft>
                <a:spcPts val="630"/>
              </a:spcAft>
            </a:pPr>
            <a:r>
              <a:rPr b="1" sz="1400" i="0">
                <a:solidFill>
                  <a:srgbClr val="E8A33D"/>
                </a:solidFill>
                <a:latin typeface="Calibri"/>
              </a:rPr>
              <a:t>•  </a:t>
            </a:r>
            <a:r>
              <a:rPr b="1" sz="1400" i="0">
                <a:solidFill>
                  <a:srgbClr val="FFFFFF"/>
                </a:solidFill>
                <a:latin typeface="Calibri"/>
              </a:rPr>
              <a:t>The powertrain has still never been powered.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10838"/>
            <a:ext cx="5577840" cy="462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 i="0">
                <a:solidFill>
                  <a:srgbClr val="E8A33D"/>
                </a:solidFill>
                <a:latin typeface="Calibri"/>
              </a:rPr>
              <a:t>NEXT  </a:t>
            </a:r>
            <a:r>
              <a:rPr b="1" sz="1400" i="0">
                <a:solidFill>
                  <a:srgbClr val="FFFFFF"/>
                </a:solidFill>
                <a:latin typeface="Calibri"/>
              </a:rPr>
              <a:t>WI-03 — FC install, pinout check, first power through the smoke stopper. Unblocks when the SkyStars H743 lands.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0" sz="1000" i="0">
                <a:solidFill>
                  <a:srgbClr val="9AA3A9"/>
                </a:solidFill>
                <a:latin typeface="Calibri"/>
              </a:rPr>
              <a:t>WI-02 · ESC soldering: motors, XT60, capacitor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b="0" sz="1000" i="0">
                <a:solidFill>
                  <a:srgbClr val="9AA3A9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